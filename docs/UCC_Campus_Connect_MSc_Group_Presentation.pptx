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rcRect t="5703" b="5703"/>
          <a:stretch>
            <a:fillRect/>
          </a:stretch>
        </p:blipFill>
        <p:spPr>
          <a:xfrm>
            <a:off x="5429250" y="0"/>
            <a:ext cx="6762750" cy="6858000"/>
          </a:xfrm>
          <a:prstGeom prst="rect">
            <a:avLst/>
          </a:prstGeom>
        </p:spPr>
      </p:pic>
      <p:sp>
        <p:nvSpPr>
          <p:cNvPr id="2" name="box"/>
          <p:cNvSpPr>
            <a:spLocks noGrp="1"/>
          </p:cNvSpPr>
          <p:nvPr/>
        </p:nvSpPr>
        <p:spPr>
          <a:xfrm>
            <a:off x="0" y="0"/>
            <a:ext cx="6477000" cy="6858000"/>
          </a:xfrm>
          <a:prstGeom prst="rect">
            <a:avLst/>
          </a:prstGeom>
          <a:solidFill>
            <a:srgbClr val="003B73"/>
          </a:solidFill>
          <a:ln w="0">
            <a:noFill/>
            <a:prstDash val="solid"/>
          </a:ln>
        </p:spPr>
      </p:sp>
      <p:sp>
        <p:nvSpPr>
          <p:cNvPr id="3" name="box"/>
          <p:cNvSpPr>
            <a:spLocks noGrp="1"/>
          </p:cNvSpPr>
          <p:nvPr/>
        </p:nvSpPr>
        <p:spPr>
          <a:xfrm>
            <a:off x="590550" y="723900"/>
            <a:ext cx="723900" cy="66675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90550" y="1066800"/>
            <a:ext cx="4953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UCC CAMPUS CONNECT</a:t>
            </a:r>
            <a:endParaRPr sz="4050" b="1">
              <a:solidFill>
                <a:srgbClr val="FFFFFF"/>
              </a:solidFill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590550" y="342074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2C84B"/>
                </a:solidFill>
              </a:defRPr>
            </a:pPr>
            <a:r>
              <a:rPr lang="en-US" sz="1350" b="1">
                <a:solidFill>
                  <a:srgbClr val="F2C84B"/>
                </a:solidFill>
              </a:rPr>
              <a:t>AI Group</a:t>
            </a:r>
            <a:r>
              <a:rPr sz="1350" b="1">
                <a:solidFill>
                  <a:srgbClr val="F2C84B"/>
                </a:solidFill>
              </a:rPr>
              <a:t> Project Presentation</a:t>
            </a:r>
            <a:endParaRPr sz="1350" b="1">
              <a:solidFill>
                <a:srgbClr val="F2C84B"/>
              </a:solidFill>
            </a:endParaRPr>
          </a:p>
        </p:txBody>
      </p:sp>
      <p:sp>
        <p:nvSpPr>
          <p:cNvPr id="7" name="text"/>
          <p:cNvSpPr>
            <a:spLocks noGrp="1"/>
          </p:cNvSpPr>
          <p:nvPr/>
        </p:nvSpPr>
        <p:spPr>
          <a:xfrm>
            <a:off x="590550" y="380619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MSc Information Technology   •  University of Cape Coast  •  2026</a:t>
            </a:r>
            <a:endParaRPr sz="1125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PROJECT TEAM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A four-member MSc team developed the project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02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text"/>
          <p:cNvSpPr>
            <a:spLocks noGrp="1"/>
          </p:cNvSpPr>
          <p:nvPr/>
        </p:nvSpPr>
        <p:spPr>
          <a:xfrm>
            <a:off x="419100" y="1600200"/>
            <a:ext cx="590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2C84B"/>
                </a:solidFill>
              </a:defRPr>
            </a:pPr>
            <a:r>
              <a:rPr sz="2175" b="1">
                <a:solidFill>
                  <a:srgbClr val="F2C84B"/>
                </a:solidFill>
              </a:rPr>
              <a:t>01</a:t>
            </a:r>
            <a:endParaRPr sz="2175" b="1">
              <a:solidFill>
                <a:srgbClr val="F2C84B"/>
              </a:solidFill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1219200" y="160020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Ebenezer Nana Annan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8077200" y="1600200"/>
            <a:ext cx="3124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003B73"/>
                </a:solidFill>
              </a:defRPr>
            </a:pPr>
            <a:r>
              <a:rPr sz="1500" b="1">
                <a:solidFill>
                  <a:srgbClr val="003B73"/>
                </a:solidFill>
              </a:rPr>
              <a:t>MS/ITE/25/0041</a:t>
            </a:r>
            <a:endParaRPr sz="1500" b="1">
              <a:solidFill>
                <a:srgbClr val="003B73"/>
              </a:solidFill>
            </a:endParaRPr>
          </a:p>
        </p:txBody>
      </p:sp>
      <p:sp>
        <p:nvSpPr>
          <p:cNvPr id="10" name="box"/>
          <p:cNvSpPr>
            <a:spLocks noGrp="1"/>
          </p:cNvSpPr>
          <p:nvPr/>
        </p:nvSpPr>
        <p:spPr>
          <a:xfrm>
            <a:off x="1219200" y="2333625"/>
            <a:ext cx="998220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19100" y="2667000"/>
            <a:ext cx="590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2C84B"/>
                </a:solidFill>
              </a:defRPr>
            </a:pPr>
            <a:r>
              <a:rPr sz="2175" b="1">
                <a:solidFill>
                  <a:srgbClr val="F2C84B"/>
                </a:solidFill>
              </a:rPr>
              <a:t>02</a:t>
            </a:r>
            <a:endParaRPr sz="2175" b="1">
              <a:solidFill>
                <a:srgbClr val="F2C84B"/>
              </a:solidFill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1219200" y="266700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Okyere-Darko Addai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8077200" y="2667000"/>
            <a:ext cx="3124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003B73"/>
                </a:solidFill>
              </a:defRPr>
            </a:pPr>
            <a:r>
              <a:rPr sz="1500" b="1">
                <a:solidFill>
                  <a:srgbClr val="003B73"/>
                </a:solidFill>
              </a:rPr>
              <a:t>MS/ITE/25/0044</a:t>
            </a:r>
            <a:endParaRPr sz="1500" b="1">
              <a:solidFill>
                <a:srgbClr val="003B73"/>
              </a:solidFill>
            </a:endParaRPr>
          </a:p>
        </p:txBody>
      </p:sp>
      <p:sp>
        <p:nvSpPr>
          <p:cNvPr id="14" name="box"/>
          <p:cNvSpPr>
            <a:spLocks noGrp="1"/>
          </p:cNvSpPr>
          <p:nvPr/>
        </p:nvSpPr>
        <p:spPr>
          <a:xfrm>
            <a:off x="1219200" y="3400425"/>
            <a:ext cx="998220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419100" y="3733800"/>
            <a:ext cx="590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2C84B"/>
                </a:solidFill>
              </a:defRPr>
            </a:pPr>
            <a:r>
              <a:rPr sz="2175" b="1">
                <a:solidFill>
                  <a:srgbClr val="F2C84B"/>
                </a:solidFill>
              </a:rPr>
              <a:t>03</a:t>
            </a:r>
            <a:endParaRPr sz="2175" b="1">
              <a:solidFill>
                <a:srgbClr val="F2C84B"/>
              </a:solidFill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1219200" y="373380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Frank Akrasi Antwi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8077200" y="3733800"/>
            <a:ext cx="3124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003B73"/>
                </a:solidFill>
              </a:defRPr>
            </a:pPr>
            <a:r>
              <a:rPr sz="1500" b="1">
                <a:solidFill>
                  <a:srgbClr val="003B73"/>
                </a:solidFill>
              </a:rPr>
              <a:t>MS/ITE/25/0051</a:t>
            </a:r>
            <a:endParaRPr sz="1500" b="1">
              <a:solidFill>
                <a:srgbClr val="003B73"/>
              </a:solidFill>
            </a:endParaRPr>
          </a:p>
        </p:txBody>
      </p:sp>
      <p:sp>
        <p:nvSpPr>
          <p:cNvPr id="18" name="box"/>
          <p:cNvSpPr>
            <a:spLocks noGrp="1"/>
          </p:cNvSpPr>
          <p:nvPr/>
        </p:nvSpPr>
        <p:spPr>
          <a:xfrm>
            <a:off x="1219200" y="4467225"/>
            <a:ext cx="998220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419100" y="4800600"/>
            <a:ext cx="590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2C84B"/>
                </a:solidFill>
              </a:defRPr>
            </a:pPr>
            <a:r>
              <a:rPr sz="2175" b="1">
                <a:solidFill>
                  <a:srgbClr val="F2C84B"/>
                </a:solidFill>
              </a:rPr>
              <a:t>04</a:t>
            </a:r>
            <a:endParaRPr sz="2175" b="1">
              <a:solidFill>
                <a:srgbClr val="F2C84B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1219200" y="480060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Michael Essel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8077200" y="4800600"/>
            <a:ext cx="3124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003B73"/>
                </a:solidFill>
              </a:defRPr>
            </a:pPr>
            <a:r>
              <a:rPr sz="1500" b="1">
                <a:solidFill>
                  <a:srgbClr val="003B73"/>
                </a:solidFill>
              </a:rPr>
              <a:t>MS/ITE/25/0053</a:t>
            </a:r>
            <a:endParaRPr sz="1500" b="1">
              <a:solidFill>
                <a:srgbClr val="003B73"/>
              </a:solidFill>
            </a:endParaRPr>
          </a:p>
        </p:txBody>
      </p:sp>
      <p:sp>
        <p:nvSpPr>
          <p:cNvPr id="22" name="box"/>
          <p:cNvSpPr>
            <a:spLocks noGrp="1"/>
          </p:cNvSpPr>
          <p:nvPr/>
        </p:nvSpPr>
        <p:spPr>
          <a:xfrm>
            <a:off x="419100" y="5829300"/>
            <a:ext cx="10782300" cy="400050"/>
          </a:xfrm>
          <a:prstGeom prst="roundRect">
            <a:avLst>
              <a:gd name="adj" fmla="val 19048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647700" y="5876925"/>
            <a:ext cx="1032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03B73"/>
                </a:solidFill>
              </a:defRPr>
            </a:pPr>
            <a:r>
              <a:rPr sz="1275" b="1">
                <a:solidFill>
                  <a:srgbClr val="003B73"/>
                </a:solidFill>
              </a:rPr>
              <a:t>Programme: MSc Information Technology  •  Project: UCC Campus Connect</a:t>
            </a:r>
            <a:endParaRPr sz="1275" b="1">
              <a:solidFill>
                <a:srgbClr val="003B7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PRESENTATION OUTLINE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The presentation follows the project from need to evidence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03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419100" y="1581150"/>
            <a:ext cx="5238750" cy="1104900"/>
          </a:xfrm>
          <a:prstGeom prst="roundRect">
            <a:avLst>
              <a:gd name="adj" fmla="val 6897"/>
            </a:avLst>
          </a:prstGeom>
          <a:solidFill>
            <a:srgbClr val="F6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590550" y="17526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01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1181100" y="17145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Context and purpose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81100" y="20574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Problem, aim, objectives and stakeholders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4895215" y="1752600"/>
            <a:ext cx="55308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003B73"/>
                </a:solidFill>
              </a:defRPr>
            </a:pPr>
            <a:r>
              <a:rPr sz="1050" b="1">
                <a:solidFill>
                  <a:srgbClr val="003B73"/>
                </a:solidFill>
              </a:rPr>
              <a:t>04–07</a:t>
            </a:r>
            <a:endParaRPr sz="1050" b="1">
              <a:solidFill>
                <a:srgbClr val="003B73"/>
              </a:solidFill>
            </a:endParaRPr>
          </a:p>
        </p:txBody>
      </p:sp>
      <p:sp>
        <p:nvSpPr>
          <p:cNvPr id="12" name="box"/>
          <p:cNvSpPr>
            <a:spLocks noGrp="1"/>
          </p:cNvSpPr>
          <p:nvPr/>
        </p:nvSpPr>
        <p:spPr>
          <a:xfrm>
            <a:off x="6096000" y="1581150"/>
            <a:ext cx="5238750" cy="1104900"/>
          </a:xfrm>
          <a:prstGeom prst="roundRect">
            <a:avLst>
              <a:gd name="adj" fmla="val 6897"/>
            </a:avLst>
          </a:prstGeom>
          <a:solidFill>
            <a:srgbClr val="F6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6267450" y="17526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02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6858000" y="17145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Design approach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858000" y="20574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Proposed solution, methodology and architecture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10549255" y="1752600"/>
            <a:ext cx="57594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003B73"/>
                </a:solidFill>
              </a:defRPr>
            </a:pPr>
            <a:r>
              <a:rPr sz="1050" b="1">
                <a:solidFill>
                  <a:srgbClr val="003B73"/>
                </a:solidFill>
              </a:rPr>
              <a:t>08–10</a:t>
            </a:r>
            <a:endParaRPr sz="1050" b="1">
              <a:solidFill>
                <a:srgbClr val="003B73"/>
              </a:solidFill>
            </a:endParaRPr>
          </a:p>
        </p:txBody>
      </p:sp>
      <p:sp>
        <p:nvSpPr>
          <p:cNvPr id="17" name="box"/>
          <p:cNvSpPr>
            <a:spLocks noGrp="1"/>
          </p:cNvSpPr>
          <p:nvPr/>
        </p:nvSpPr>
        <p:spPr>
          <a:xfrm>
            <a:off x="419100" y="2952750"/>
            <a:ext cx="5238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590550" y="31242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03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1181100" y="30861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System implementation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1181100" y="34290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Features, technologies and data design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4895215" y="3124200"/>
            <a:ext cx="55308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003B73"/>
                </a:solidFill>
              </a:defRPr>
            </a:pPr>
            <a:r>
              <a:rPr sz="1050" b="1">
                <a:solidFill>
                  <a:srgbClr val="003B73"/>
                </a:solidFill>
              </a:rPr>
              <a:t>11–12</a:t>
            </a:r>
            <a:endParaRPr sz="1050" b="1">
              <a:solidFill>
                <a:srgbClr val="003B73"/>
              </a:solidFill>
            </a:endParaRPr>
          </a:p>
        </p:txBody>
      </p:sp>
      <p:sp>
        <p:nvSpPr>
          <p:cNvPr id="22" name="box"/>
          <p:cNvSpPr>
            <a:spLocks noGrp="1"/>
          </p:cNvSpPr>
          <p:nvPr/>
        </p:nvSpPr>
        <p:spPr>
          <a:xfrm>
            <a:off x="6096000" y="2952750"/>
            <a:ext cx="5238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6267450" y="31242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04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6858000" y="30861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Campus AI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6858000" y="34290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Capabilities, models, grounding and feedback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10572115" y="3124200"/>
            <a:ext cx="55308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003B73"/>
                </a:solidFill>
              </a:defRPr>
            </a:pPr>
            <a:r>
              <a:rPr sz="1050" b="1">
                <a:solidFill>
                  <a:srgbClr val="003B73"/>
                </a:solidFill>
              </a:rPr>
              <a:t>13–15</a:t>
            </a:r>
            <a:endParaRPr sz="1050" b="1">
              <a:solidFill>
                <a:srgbClr val="003B73"/>
              </a:solidFill>
            </a:endParaRPr>
          </a:p>
        </p:txBody>
      </p:sp>
      <p:sp>
        <p:nvSpPr>
          <p:cNvPr id="27" name="box"/>
          <p:cNvSpPr>
            <a:spLocks noGrp="1"/>
          </p:cNvSpPr>
          <p:nvPr/>
        </p:nvSpPr>
        <p:spPr>
          <a:xfrm>
            <a:off x="419100" y="4324350"/>
            <a:ext cx="5238750" cy="1104900"/>
          </a:xfrm>
          <a:prstGeom prst="roundRect">
            <a:avLst>
              <a:gd name="adj" fmla="val 6897"/>
            </a:avLst>
          </a:prstGeom>
          <a:solidFill>
            <a:srgbClr val="F6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590550" y="44958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05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1181100" y="44577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Assurance and evaluation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1181100" y="48006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Security, verification and evaluation evidence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31" name="text"/>
          <p:cNvSpPr>
            <a:spLocks noGrp="1"/>
          </p:cNvSpPr>
          <p:nvPr/>
        </p:nvSpPr>
        <p:spPr>
          <a:xfrm>
            <a:off x="4880610" y="4495800"/>
            <a:ext cx="56769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003B73"/>
                </a:solidFill>
              </a:defRPr>
            </a:pPr>
            <a:r>
              <a:rPr sz="1050" b="1">
                <a:solidFill>
                  <a:srgbClr val="003B73"/>
                </a:solidFill>
              </a:rPr>
              <a:t>16–17</a:t>
            </a:r>
            <a:endParaRPr sz="1050" b="1">
              <a:solidFill>
                <a:srgbClr val="003B73"/>
              </a:solidFill>
            </a:endParaRPr>
          </a:p>
        </p:txBody>
      </p:sp>
      <p:sp>
        <p:nvSpPr>
          <p:cNvPr id="32" name="box"/>
          <p:cNvSpPr>
            <a:spLocks noGrp="1"/>
          </p:cNvSpPr>
          <p:nvPr/>
        </p:nvSpPr>
        <p:spPr>
          <a:xfrm>
            <a:off x="6096000" y="4324350"/>
            <a:ext cx="5238750" cy="1104900"/>
          </a:xfrm>
          <a:prstGeom prst="roundRect">
            <a:avLst>
              <a:gd name="adj" fmla="val 6897"/>
            </a:avLst>
          </a:prstGeom>
          <a:solidFill>
            <a:srgbClr val="F6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33" name="text"/>
          <p:cNvSpPr>
            <a:spLocks noGrp="1"/>
          </p:cNvSpPr>
          <p:nvPr/>
        </p:nvSpPr>
        <p:spPr>
          <a:xfrm>
            <a:off x="6267450" y="44958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06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6858000" y="44577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Outlook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35" name="text"/>
          <p:cNvSpPr>
            <a:spLocks noGrp="1"/>
          </p:cNvSpPr>
          <p:nvPr/>
        </p:nvSpPr>
        <p:spPr>
          <a:xfrm>
            <a:off x="6858000" y="48006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Limitations, future work and conclusion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36" name="text"/>
          <p:cNvSpPr>
            <a:spLocks noGrp="1"/>
          </p:cNvSpPr>
          <p:nvPr/>
        </p:nvSpPr>
        <p:spPr>
          <a:xfrm>
            <a:off x="10495280" y="4495800"/>
            <a:ext cx="62992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003B73"/>
                </a:solidFill>
              </a:defRPr>
            </a:pPr>
            <a:r>
              <a:rPr sz="1050" b="1">
                <a:solidFill>
                  <a:srgbClr val="003B73"/>
                </a:solidFill>
              </a:rPr>
              <a:t>18–19</a:t>
            </a:r>
            <a:endParaRPr sz="1050" b="1">
              <a:solidFill>
                <a:srgbClr val="003B7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PROBLEM STATEMENT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Campus information is available, but it is fragmented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04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text"/>
          <p:cNvSpPr>
            <a:spLocks noGrp="1"/>
          </p:cNvSpPr>
          <p:nvPr/>
        </p:nvSpPr>
        <p:spPr>
          <a:xfrm>
            <a:off x="419100" y="150495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Students and visitors often need several disconnected channels to complete one campus journey.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8" name="box"/>
          <p:cNvSpPr>
            <a:spLocks noGrp="1"/>
          </p:cNvSpPr>
          <p:nvPr/>
        </p:nvSpPr>
        <p:spPr>
          <a:xfrm>
            <a:off x="419100" y="2343150"/>
            <a:ext cx="3429000" cy="2667000"/>
          </a:xfrm>
          <a:prstGeom prst="roundRect">
            <a:avLst>
              <a:gd name="adj" fmla="val 2857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9" name="text"/>
          <p:cNvSpPr>
            <a:spLocks noGrp="1"/>
          </p:cNvSpPr>
          <p:nvPr/>
        </p:nvSpPr>
        <p:spPr>
          <a:xfrm>
            <a:off x="647700" y="2514600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003B73"/>
                </a:solidFill>
              </a:defRPr>
            </a:pPr>
            <a:r>
              <a:rPr sz="825" b="1">
                <a:solidFill>
                  <a:srgbClr val="003B73"/>
                </a:solidFill>
              </a:rPr>
              <a:t>DISCOVER</a:t>
            </a:r>
            <a:endParaRPr sz="825" b="1">
              <a:solidFill>
                <a:srgbClr val="003B73"/>
              </a:solidFill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647700" y="28003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Where is it?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647700" y="3238500"/>
            <a:ext cx="29718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Facilities, halls, services and landmarks are difficult to discover from one trusted interface.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12" name="box"/>
          <p:cNvSpPr>
            <a:spLocks noGrp="1"/>
          </p:cNvSpPr>
          <p:nvPr/>
        </p:nvSpPr>
        <p:spPr>
          <a:xfrm>
            <a:off x="4095750" y="2343150"/>
            <a:ext cx="3429000" cy="2667000"/>
          </a:xfrm>
          <a:prstGeom prst="roundRect">
            <a:avLst>
              <a:gd name="adj" fmla="val 2857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4324350" y="2514600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003B73"/>
                </a:solidFill>
              </a:defRPr>
            </a:pPr>
            <a:r>
              <a:rPr sz="825" b="1">
                <a:solidFill>
                  <a:srgbClr val="003B73"/>
                </a:solidFill>
              </a:rPr>
              <a:t>PLAN</a:t>
            </a:r>
            <a:endParaRPr sz="825" b="1">
              <a:solidFill>
                <a:srgbClr val="003B73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324350" y="28003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When and how?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4324350" y="3238500"/>
            <a:ext cx="29718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Timetables, campus updates, shuttle guidance and route context are not coordinated.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16" name="box"/>
          <p:cNvSpPr>
            <a:spLocks noGrp="1"/>
          </p:cNvSpPr>
          <p:nvPr/>
        </p:nvSpPr>
        <p:spPr>
          <a:xfrm>
            <a:off x="7772400" y="2343150"/>
            <a:ext cx="3429000" cy="2667000"/>
          </a:xfrm>
          <a:prstGeom prst="roundRect">
            <a:avLst>
              <a:gd name="adj" fmla="val 2857"/>
            </a:avLst>
          </a:prstGeom>
          <a:solidFill>
            <a:srgbClr val="EAF3EC"/>
          </a:solidFill>
          <a:ln w="0">
            <a:noFill/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8001000" y="2514600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003B73"/>
                </a:solidFill>
              </a:defRPr>
            </a:pPr>
            <a:r>
              <a:rPr sz="825" b="1">
                <a:solidFill>
                  <a:srgbClr val="003B73"/>
                </a:solidFill>
              </a:rPr>
              <a:t>ACT</a:t>
            </a:r>
            <a:endParaRPr sz="825" b="1">
              <a:solidFill>
                <a:srgbClr val="003B73"/>
              </a:solidFill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8001000" y="28003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Who can help?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8001000" y="3238500"/>
            <a:ext cx="29718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Safety contacts, incident reporting and service feedback are scattered across channels.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419100" y="5505450"/>
            <a:ext cx="1078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03B73"/>
                </a:solidFill>
              </a:defRPr>
            </a:pPr>
            <a:r>
              <a:rPr sz="1650" b="1">
                <a:solidFill>
                  <a:srgbClr val="003B73"/>
                </a:solidFill>
              </a:rPr>
              <a:t>The consequence is avoidable delay, uncertainty and a poorer campus experience.</a:t>
            </a:r>
            <a:endParaRPr sz="1650" b="1">
              <a:solidFill>
                <a:srgbClr val="003B7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AIM &amp; OBJECTIVES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The project creates one dependable campus companion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05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419100" y="1571625"/>
            <a:ext cx="11353800" cy="1009650"/>
          </a:xfrm>
          <a:prstGeom prst="roundRect">
            <a:avLst>
              <a:gd name="adj" fmla="val 7547"/>
            </a:avLst>
          </a:prstGeom>
          <a:solidFill>
            <a:srgbClr val="003B73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66750" y="174307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2C84B"/>
                </a:solidFill>
              </a:defRPr>
            </a:pPr>
            <a:r>
              <a:rPr sz="975" b="1">
                <a:solidFill>
                  <a:srgbClr val="F2C84B"/>
                </a:solidFill>
              </a:rPr>
              <a:t>AIM</a:t>
            </a:r>
            <a:endParaRPr sz="975" b="1">
              <a:solidFill>
                <a:srgbClr val="F2C84B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66750" y="2009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Design and implement an integrated smart-campus platform that improves access to location, academic, transport, safety and support information at UCC.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419100" y="28575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2C84B"/>
                </a:solidFill>
              </a:defRPr>
            </a:pPr>
            <a:r>
              <a:rPr sz="1950" b="1">
                <a:solidFill>
                  <a:srgbClr val="F2C84B"/>
                </a:solidFill>
              </a:rPr>
              <a:t>01</a:t>
            </a:r>
            <a:endParaRPr sz="1950" b="1">
              <a:solidFill>
                <a:srgbClr val="F2C84B"/>
              </a:solidFill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1047750" y="2857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Centralise campus information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1047750" y="3238500"/>
            <a:ext cx="4686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Create a single responsive access point for places, updates and services.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6096000" y="28575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2C84B"/>
                </a:solidFill>
              </a:defRPr>
            </a:pPr>
            <a:r>
              <a:rPr sz="1950" b="1">
                <a:solidFill>
                  <a:srgbClr val="F2C84B"/>
                </a:solidFill>
              </a:rPr>
              <a:t>02</a:t>
            </a:r>
            <a:endParaRPr sz="1950" b="1">
              <a:solidFill>
                <a:srgbClr val="F2C84B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6724650" y="2857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Support personal planning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724650" y="3238500"/>
            <a:ext cx="4686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Persist profiles, preferences and timetable entries securely.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19100" y="42386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2C84B"/>
                </a:solidFill>
              </a:defRPr>
            </a:pPr>
            <a:r>
              <a:rPr sz="1950" b="1">
                <a:solidFill>
                  <a:srgbClr val="F2C84B"/>
                </a:solidFill>
              </a:rPr>
              <a:t>03</a:t>
            </a:r>
            <a:endParaRPr sz="1950" b="1">
              <a:solidFill>
                <a:srgbClr val="F2C84B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1047750" y="42386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Improve navigation and safety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1047750" y="4619625"/>
            <a:ext cx="4686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Provide route guidance, accessibility options and incident reporting.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6096000" y="42386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2C84B"/>
                </a:solidFill>
              </a:defRPr>
            </a:pPr>
            <a:r>
              <a:rPr sz="1950" b="1">
                <a:solidFill>
                  <a:srgbClr val="F2C84B"/>
                </a:solidFill>
              </a:rPr>
              <a:t>04</a:t>
            </a:r>
            <a:endParaRPr sz="1950" b="1">
              <a:solidFill>
                <a:srgbClr val="F2C84B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6724650" y="42386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Build an extensible platform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6724650" y="4619625"/>
            <a:ext cx="4686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Use Laravel APIs and MariaDB structures that can grow with campus needs.</a:t>
            </a:r>
            <a:endParaRPr sz="1200" b="0">
              <a:solidFill>
                <a:srgbClr val="647B8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METHODOLOGY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A design-and-build method translated campus needs into software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06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connector-0"/>
          <p:cNvSpPr>
            <a:spLocks noGrp="1"/>
          </p:cNvSpPr>
          <p:nvPr/>
        </p:nvSpPr>
        <p:spPr>
          <a:xfrm>
            <a:off x="1447800" y="2733675"/>
            <a:ext cx="1104900" cy="381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8" name="connector-1"/>
          <p:cNvSpPr>
            <a:spLocks noGrp="1"/>
          </p:cNvSpPr>
          <p:nvPr/>
        </p:nvSpPr>
        <p:spPr>
          <a:xfrm>
            <a:off x="3771900" y="2733675"/>
            <a:ext cx="1104900" cy="381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9" name="connector-2"/>
          <p:cNvSpPr>
            <a:spLocks noGrp="1"/>
          </p:cNvSpPr>
          <p:nvPr/>
        </p:nvSpPr>
        <p:spPr>
          <a:xfrm>
            <a:off x="6096000" y="2733675"/>
            <a:ext cx="1104900" cy="381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0" name="connector-3"/>
          <p:cNvSpPr>
            <a:spLocks noGrp="1"/>
          </p:cNvSpPr>
          <p:nvPr/>
        </p:nvSpPr>
        <p:spPr>
          <a:xfrm>
            <a:off x="8420100" y="2733675"/>
            <a:ext cx="1104900" cy="381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1" name="box"/>
          <p:cNvSpPr>
            <a:spLocks noGrp="1"/>
          </p:cNvSpPr>
          <p:nvPr/>
        </p:nvSpPr>
        <p:spPr>
          <a:xfrm>
            <a:off x="419100" y="2076450"/>
            <a:ext cx="2057400" cy="2114550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590550" y="22098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003B73"/>
                </a:solidFill>
              </a:defRPr>
            </a:pPr>
            <a:r>
              <a:rPr sz="2100" b="1">
                <a:solidFill>
                  <a:srgbClr val="003B73"/>
                </a:solidFill>
              </a:rPr>
              <a:t>1</a:t>
            </a:r>
            <a:endParaRPr sz="2100" b="1">
              <a:solidFill>
                <a:srgbClr val="003B73"/>
              </a:solidFill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590550" y="276225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Needs analysis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590550" y="331470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Map common campus tasks and information gaps.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5" name="box"/>
          <p:cNvSpPr>
            <a:spLocks noGrp="1"/>
          </p:cNvSpPr>
          <p:nvPr/>
        </p:nvSpPr>
        <p:spPr>
          <a:xfrm>
            <a:off x="2743200" y="2076450"/>
            <a:ext cx="2057400" cy="2114550"/>
          </a:xfrm>
          <a:prstGeom prst="roundRect">
            <a:avLst>
              <a:gd name="adj" fmla="val 3704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2914650" y="22098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003B73"/>
                </a:solidFill>
              </a:defRPr>
            </a:pPr>
            <a:r>
              <a:rPr sz="2100" b="1">
                <a:solidFill>
                  <a:srgbClr val="003B73"/>
                </a:solidFill>
              </a:rPr>
              <a:t>2</a:t>
            </a:r>
            <a:endParaRPr sz="2100" b="1">
              <a:solidFill>
                <a:srgbClr val="003B73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2914650" y="276225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Requirements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2914650" y="331470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Define functional, usability, security and data needs.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9" name="box"/>
          <p:cNvSpPr>
            <a:spLocks noGrp="1"/>
          </p:cNvSpPr>
          <p:nvPr/>
        </p:nvSpPr>
        <p:spPr>
          <a:xfrm>
            <a:off x="5067300" y="2076450"/>
            <a:ext cx="2057400" cy="2114550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5238750" y="22098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003B73"/>
                </a:solidFill>
              </a:defRPr>
            </a:pPr>
            <a:r>
              <a:rPr sz="2100" b="1">
                <a:solidFill>
                  <a:srgbClr val="003B73"/>
                </a:solidFill>
              </a:rPr>
              <a:t>3</a:t>
            </a:r>
            <a:endParaRPr sz="2100" b="1">
              <a:solidFill>
                <a:srgbClr val="003B73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5238750" y="276225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Iterative design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5238750" y="331470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Develop responsive interactions and refine task flows.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23" name="box"/>
          <p:cNvSpPr>
            <a:spLocks noGrp="1"/>
          </p:cNvSpPr>
          <p:nvPr/>
        </p:nvSpPr>
        <p:spPr>
          <a:xfrm>
            <a:off x="7391400" y="2076450"/>
            <a:ext cx="2057400" cy="2114550"/>
          </a:xfrm>
          <a:prstGeom prst="roundRect">
            <a:avLst>
              <a:gd name="adj" fmla="val 3704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7562850" y="22098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003B73"/>
                </a:solidFill>
              </a:defRPr>
            </a:pPr>
            <a:r>
              <a:rPr sz="2100" b="1">
                <a:solidFill>
                  <a:srgbClr val="003B73"/>
                </a:solidFill>
              </a:rPr>
              <a:t>4</a:t>
            </a:r>
            <a:endParaRPr sz="2100" b="1">
              <a:solidFill>
                <a:srgbClr val="003B73"/>
              </a:solidFill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7562850" y="276225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Implementation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7562850" y="331470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Build React UI, Laravel services and MariaDB persistence.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27" name="box"/>
          <p:cNvSpPr>
            <a:spLocks noGrp="1"/>
          </p:cNvSpPr>
          <p:nvPr/>
        </p:nvSpPr>
        <p:spPr>
          <a:xfrm>
            <a:off x="9715500" y="2076450"/>
            <a:ext cx="2057400" cy="2114550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9886950" y="22098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003B73"/>
                </a:solidFill>
              </a:defRPr>
            </a:pPr>
            <a:r>
              <a:rPr sz="2100" b="1">
                <a:solidFill>
                  <a:srgbClr val="003B73"/>
                </a:solidFill>
              </a:rPr>
              <a:t>5</a:t>
            </a:r>
            <a:endParaRPr sz="2100" b="1">
              <a:solidFill>
                <a:srgbClr val="003B73"/>
              </a:solidFill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9886950" y="276225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Verification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9886950" y="331470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Check routes, validation rules, migrations and responsive layouts.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31" name="text"/>
          <p:cNvSpPr>
            <a:spLocks noGrp="1"/>
          </p:cNvSpPr>
          <p:nvPr/>
        </p:nvSpPr>
        <p:spPr>
          <a:xfrm>
            <a:off x="419100" y="4810125"/>
            <a:ext cx="1133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03B73"/>
                </a:solidFill>
              </a:defRPr>
            </a:pPr>
            <a:r>
              <a:rPr sz="1650" b="1">
                <a:solidFill>
                  <a:srgbClr val="003B73"/>
                </a:solidFill>
              </a:rPr>
              <a:t>Outcome: a working full-stack prototype whose implementation choices remain traceable to identified campus needs.</a:t>
            </a:r>
            <a:endParaRPr sz="1650" b="1">
              <a:solidFill>
                <a:srgbClr val="003B7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SCOPE &amp; STAKEHOLDERS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The system serves four user groups through one interface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07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text"/>
          <p:cNvSpPr>
            <a:spLocks noGrp="1"/>
          </p:cNvSpPr>
          <p:nvPr/>
        </p:nvSpPr>
        <p:spPr>
          <a:xfrm>
            <a:off x="419100" y="1695450"/>
            <a:ext cx="60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2C84B"/>
                </a:solidFill>
              </a:defRPr>
            </a:pPr>
            <a:r>
              <a:rPr sz="2250" b="1">
                <a:solidFill>
                  <a:srgbClr val="F2C84B"/>
                </a:solidFill>
              </a:rPr>
              <a:t>01</a:t>
            </a:r>
            <a:endParaRPr sz="2250" b="1">
              <a:solidFill>
                <a:srgbClr val="F2C84B"/>
              </a:solidFill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1181100" y="1695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3B73"/>
                </a:solidFill>
              </a:defRPr>
            </a:pPr>
            <a:r>
              <a:rPr sz="1425" b="1">
                <a:solidFill>
                  <a:srgbClr val="003B73"/>
                </a:solidFill>
              </a:rPr>
              <a:t>STUDENTS</a:t>
            </a:r>
            <a:endParaRPr sz="1425" b="1">
              <a:solidFill>
                <a:srgbClr val="003B73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3476625" y="16954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2F4D"/>
                </a:solidFill>
              </a:defRPr>
            </a:pPr>
            <a:r>
              <a:rPr sz="1425" b="0">
                <a:solidFill>
                  <a:srgbClr val="102F4D"/>
                </a:solidFill>
              </a:rPr>
              <a:t>Personal timetable, saved places, updates, routes and issue reporting</a:t>
            </a:r>
            <a:endParaRPr sz="1425" b="0">
              <a:solidFill>
                <a:srgbClr val="102F4D"/>
              </a:solidFill>
            </a:endParaRPr>
          </a:p>
        </p:txBody>
      </p:sp>
      <p:sp>
        <p:nvSpPr>
          <p:cNvPr id="10" name="box"/>
          <p:cNvSpPr>
            <a:spLocks noGrp="1"/>
          </p:cNvSpPr>
          <p:nvPr/>
        </p:nvSpPr>
        <p:spPr>
          <a:xfrm>
            <a:off x="1181100" y="2438400"/>
            <a:ext cx="1009650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19100" y="2762250"/>
            <a:ext cx="60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2C84B"/>
                </a:solidFill>
              </a:defRPr>
            </a:pPr>
            <a:r>
              <a:rPr sz="2250" b="1">
                <a:solidFill>
                  <a:srgbClr val="F2C84B"/>
                </a:solidFill>
              </a:rPr>
              <a:t>02</a:t>
            </a:r>
            <a:endParaRPr sz="2250" b="1">
              <a:solidFill>
                <a:srgbClr val="F2C84B"/>
              </a:solidFill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1181100" y="27622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3B73"/>
                </a:solidFill>
              </a:defRPr>
            </a:pPr>
            <a:r>
              <a:rPr sz="1425" b="1">
                <a:solidFill>
                  <a:srgbClr val="003B73"/>
                </a:solidFill>
              </a:rPr>
              <a:t>STAFF</a:t>
            </a:r>
            <a:endParaRPr sz="1425" b="1">
              <a:solidFill>
                <a:srgbClr val="003B73"/>
              </a:solidFill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3476625" y="27622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2F4D"/>
                </a:solidFill>
              </a:defRPr>
            </a:pPr>
            <a:r>
              <a:rPr sz="1425" b="0">
                <a:solidFill>
                  <a:srgbClr val="102F4D"/>
                </a:solidFill>
              </a:rPr>
              <a:t>Campus discovery, service information, events and feedback</a:t>
            </a:r>
            <a:endParaRPr sz="1425" b="0">
              <a:solidFill>
                <a:srgbClr val="102F4D"/>
              </a:solidFill>
            </a:endParaRPr>
          </a:p>
        </p:txBody>
      </p:sp>
      <p:sp>
        <p:nvSpPr>
          <p:cNvPr id="14" name="box"/>
          <p:cNvSpPr>
            <a:spLocks noGrp="1"/>
          </p:cNvSpPr>
          <p:nvPr/>
        </p:nvSpPr>
        <p:spPr>
          <a:xfrm>
            <a:off x="1181100" y="3505200"/>
            <a:ext cx="1009650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419100" y="3829050"/>
            <a:ext cx="60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2C84B"/>
                </a:solidFill>
              </a:defRPr>
            </a:pPr>
            <a:r>
              <a:rPr sz="2250" b="1">
                <a:solidFill>
                  <a:srgbClr val="F2C84B"/>
                </a:solidFill>
              </a:rPr>
              <a:t>03</a:t>
            </a:r>
            <a:endParaRPr sz="2250" b="1">
              <a:solidFill>
                <a:srgbClr val="F2C84B"/>
              </a:solidFill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1181100" y="38290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3B73"/>
                </a:solidFill>
              </a:defRPr>
            </a:pPr>
            <a:r>
              <a:rPr sz="1425" b="1">
                <a:solidFill>
                  <a:srgbClr val="003B73"/>
                </a:solidFill>
              </a:rPr>
              <a:t>VISITORS</a:t>
            </a:r>
            <a:endParaRPr sz="1425" b="1">
              <a:solidFill>
                <a:srgbClr val="003B73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3476625" y="38290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2F4D"/>
                </a:solidFill>
              </a:defRPr>
            </a:pPr>
            <a:r>
              <a:rPr sz="1425" b="0">
                <a:solidFill>
                  <a:srgbClr val="102F4D"/>
                </a:solidFill>
              </a:rPr>
              <a:t>Orientation, landmarks, safety contacts and accessible navigation</a:t>
            </a:r>
            <a:endParaRPr sz="1425" b="0">
              <a:solidFill>
                <a:srgbClr val="102F4D"/>
              </a:solidFill>
            </a:endParaRPr>
          </a:p>
        </p:txBody>
      </p:sp>
      <p:sp>
        <p:nvSpPr>
          <p:cNvPr id="18" name="box"/>
          <p:cNvSpPr>
            <a:spLocks noGrp="1"/>
          </p:cNvSpPr>
          <p:nvPr/>
        </p:nvSpPr>
        <p:spPr>
          <a:xfrm>
            <a:off x="1181100" y="4572000"/>
            <a:ext cx="1009650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419100" y="4895850"/>
            <a:ext cx="60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2C84B"/>
                </a:solidFill>
              </a:defRPr>
            </a:pPr>
            <a:r>
              <a:rPr sz="2250" b="1">
                <a:solidFill>
                  <a:srgbClr val="F2C84B"/>
                </a:solidFill>
              </a:rPr>
              <a:t>04</a:t>
            </a:r>
            <a:endParaRPr sz="2250" b="1">
              <a:solidFill>
                <a:srgbClr val="F2C84B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1181100" y="4895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3B73"/>
                </a:solidFill>
              </a:defRPr>
            </a:pPr>
            <a:r>
              <a:rPr sz="1425" b="1">
                <a:solidFill>
                  <a:srgbClr val="003B73"/>
                </a:solidFill>
              </a:rPr>
              <a:t>ADMINISTRATORS</a:t>
            </a:r>
            <a:endParaRPr sz="1425" b="1">
              <a:solidFill>
                <a:srgbClr val="003B73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3476625" y="48958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2F4D"/>
                </a:solidFill>
              </a:defRPr>
            </a:pPr>
            <a:r>
              <a:rPr sz="1425" b="0">
                <a:solidFill>
                  <a:srgbClr val="102F4D"/>
                </a:solidFill>
              </a:rPr>
              <a:t>Structured records that can support moderation and service improvement</a:t>
            </a:r>
            <a:endParaRPr sz="1425" b="0">
              <a:solidFill>
                <a:srgbClr val="102F4D"/>
              </a:solidFill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419100" y="5962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B5473C"/>
                </a:solidFill>
              </a:defRPr>
            </a:pPr>
            <a:r>
              <a:rPr sz="975" b="1">
                <a:solidFill>
                  <a:srgbClr val="B5473C"/>
                </a:solidFill>
              </a:rPr>
              <a:t>Current prototype boundary</a:t>
            </a:r>
            <a:endParaRPr sz="975" b="1">
              <a:solidFill>
                <a:srgbClr val="B5473C"/>
              </a:solidFill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2571750" y="58864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Campus information and self-service support; not a replacement for official emergency response or institutional records.</a:t>
            </a:r>
            <a:endParaRPr sz="1200" b="0">
              <a:solidFill>
                <a:srgbClr val="647B8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PROPOSED SOLUTION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Three capabilities turn fragmented information into action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08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419100" y="1809750"/>
            <a:ext cx="3476625" cy="3476625"/>
          </a:xfrm>
          <a:prstGeom prst="roundRect">
            <a:avLst>
              <a:gd name="adj" fmla="val 2192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66750" y="203835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003B73"/>
                </a:solidFill>
              </a:defRPr>
            </a:pPr>
            <a:r>
              <a:rPr sz="2400" b="1">
                <a:solidFill>
                  <a:srgbClr val="003B73"/>
                </a:solidFill>
              </a:rPr>
              <a:t>01</a:t>
            </a:r>
            <a:endParaRPr sz="2400" b="1">
              <a:solidFill>
                <a:srgbClr val="003B73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66750" y="27241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03B73"/>
                </a:solidFill>
              </a:defRPr>
            </a:pPr>
            <a:r>
              <a:rPr sz="1125" b="1">
                <a:solidFill>
                  <a:srgbClr val="003B73"/>
                </a:solidFill>
              </a:rPr>
              <a:t>DISCOVER</a:t>
            </a:r>
            <a:endParaRPr sz="1125" b="1">
              <a:solidFill>
                <a:srgbClr val="003B73"/>
              </a:solidFill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666750" y="3181350"/>
            <a:ext cx="2952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Search facilities, halls and services; inspect map context and campus updates.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11" name="box"/>
          <p:cNvSpPr>
            <a:spLocks noGrp="1"/>
          </p:cNvSpPr>
          <p:nvPr/>
        </p:nvSpPr>
        <p:spPr>
          <a:xfrm>
            <a:off x="666750" y="4724400"/>
            <a:ext cx="857250" cy="47625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2" name="box"/>
          <p:cNvSpPr>
            <a:spLocks noGrp="1"/>
          </p:cNvSpPr>
          <p:nvPr/>
        </p:nvSpPr>
        <p:spPr>
          <a:xfrm>
            <a:off x="4200525" y="1809750"/>
            <a:ext cx="3476625" cy="3476625"/>
          </a:xfrm>
          <a:prstGeom prst="roundRect">
            <a:avLst>
              <a:gd name="adj" fmla="val 2192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4448175" y="203835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003B73"/>
                </a:solidFill>
              </a:defRPr>
            </a:pPr>
            <a:r>
              <a:rPr sz="2400" b="1">
                <a:solidFill>
                  <a:srgbClr val="003B73"/>
                </a:solidFill>
              </a:rPr>
              <a:t>02</a:t>
            </a:r>
            <a:endParaRPr sz="2400" b="1">
              <a:solidFill>
                <a:srgbClr val="003B73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448175" y="27241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03B73"/>
                </a:solidFill>
              </a:defRPr>
            </a:pPr>
            <a:r>
              <a:rPr sz="1125" b="1">
                <a:solidFill>
                  <a:srgbClr val="003B73"/>
                </a:solidFill>
              </a:rPr>
              <a:t>PLAN</a:t>
            </a:r>
            <a:endParaRPr sz="1125" b="1">
              <a:solidFill>
                <a:srgbClr val="003B73"/>
              </a:solidFill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4448175" y="3181350"/>
            <a:ext cx="2952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Maintain a personal timetable, travel preferences and saved destinations.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16" name="box"/>
          <p:cNvSpPr>
            <a:spLocks noGrp="1"/>
          </p:cNvSpPr>
          <p:nvPr/>
        </p:nvSpPr>
        <p:spPr>
          <a:xfrm>
            <a:off x="4448175" y="4724400"/>
            <a:ext cx="857250" cy="47625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7" name="box"/>
          <p:cNvSpPr>
            <a:spLocks noGrp="1"/>
          </p:cNvSpPr>
          <p:nvPr/>
        </p:nvSpPr>
        <p:spPr>
          <a:xfrm>
            <a:off x="7981950" y="1809750"/>
            <a:ext cx="3476625" cy="3476625"/>
          </a:xfrm>
          <a:prstGeom prst="roundRect">
            <a:avLst>
              <a:gd name="adj" fmla="val 2192"/>
            </a:avLst>
          </a:prstGeom>
          <a:solidFill>
            <a:srgbClr val="EAF3EC"/>
          </a:solidFill>
          <a:ln w="0">
            <a:noFill/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8229600" y="203835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003B73"/>
                </a:solidFill>
              </a:defRPr>
            </a:pPr>
            <a:r>
              <a:rPr sz="2400" b="1">
                <a:solidFill>
                  <a:srgbClr val="003B73"/>
                </a:solidFill>
              </a:rPr>
              <a:t>03</a:t>
            </a:r>
            <a:endParaRPr sz="2400" b="1">
              <a:solidFill>
                <a:srgbClr val="003B73"/>
              </a:solidFill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8229600" y="27241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03B73"/>
                </a:solidFill>
              </a:defRPr>
            </a:pPr>
            <a:r>
              <a:rPr sz="1125" b="1">
                <a:solidFill>
                  <a:srgbClr val="003B73"/>
                </a:solidFill>
              </a:rPr>
              <a:t>RESPOND</a:t>
            </a:r>
            <a:endParaRPr sz="1125" b="1">
              <a:solidFill>
                <a:srgbClr val="003B73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8229600" y="3181350"/>
            <a:ext cx="2952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F4D"/>
                </a:solidFill>
              </a:defRPr>
            </a:pPr>
            <a:r>
              <a:rPr sz="1575" b="1">
                <a:solidFill>
                  <a:srgbClr val="102F4D"/>
                </a:solidFill>
              </a:rPr>
              <a:t>Access emergency guidance, report issues with evidence and rate AI answers.</a:t>
            </a:r>
            <a:endParaRPr sz="1575" b="1">
              <a:solidFill>
                <a:srgbClr val="102F4D"/>
              </a:solidFill>
            </a:endParaRPr>
          </a:p>
        </p:txBody>
      </p:sp>
      <p:sp>
        <p:nvSpPr>
          <p:cNvPr id="21" name="box"/>
          <p:cNvSpPr>
            <a:spLocks noGrp="1"/>
          </p:cNvSpPr>
          <p:nvPr/>
        </p:nvSpPr>
        <p:spPr>
          <a:xfrm>
            <a:off x="8229600" y="4724400"/>
            <a:ext cx="857250" cy="47625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419100" y="5657850"/>
            <a:ext cx="10782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03B73"/>
                </a:solidFill>
              </a:defRPr>
            </a:pPr>
            <a:r>
              <a:rPr sz="1650" b="1">
                <a:solidFill>
                  <a:srgbClr val="003B73"/>
                </a:solidFill>
              </a:rPr>
              <a:t>One account carries context across all three capabilities.</a:t>
            </a:r>
            <a:endParaRPr sz="1650" b="1">
              <a:solidFill>
                <a:srgbClr val="003B7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SYSTEM ARCHITECTURE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Laravel separates presentation, application logic and data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09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3162300" y="3048000"/>
            <a:ext cx="1047750" cy="381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8" name="box"/>
          <p:cNvSpPr>
            <a:spLocks noGrp="1"/>
          </p:cNvSpPr>
          <p:nvPr/>
        </p:nvSpPr>
        <p:spPr>
          <a:xfrm>
            <a:off x="7981950" y="3048000"/>
            <a:ext cx="1047750" cy="381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9" name="box"/>
          <p:cNvSpPr>
            <a:spLocks noGrp="1"/>
          </p:cNvSpPr>
          <p:nvPr/>
        </p:nvSpPr>
        <p:spPr>
          <a:xfrm>
            <a:off x="6067425" y="2171700"/>
            <a:ext cx="38100" cy="62865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0" name="box"/>
          <p:cNvSpPr>
            <a:spLocks noGrp="1"/>
          </p:cNvSpPr>
          <p:nvPr/>
        </p:nvSpPr>
        <p:spPr>
          <a:xfrm>
            <a:off x="6067425" y="3333750"/>
            <a:ext cx="38100" cy="62865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1" name="box"/>
          <p:cNvSpPr>
            <a:spLocks noGrp="1"/>
          </p:cNvSpPr>
          <p:nvPr/>
        </p:nvSpPr>
        <p:spPr>
          <a:xfrm>
            <a:off x="419100" y="2247900"/>
            <a:ext cx="2743200" cy="1714500"/>
          </a:xfrm>
          <a:prstGeom prst="roundRect">
            <a:avLst>
              <a:gd name="adj" fmla="val 4444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647700" y="24193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003B73"/>
                </a:solidFill>
              </a:defRPr>
            </a:pPr>
            <a:r>
              <a:rPr sz="825" b="1">
                <a:solidFill>
                  <a:srgbClr val="003B73"/>
                </a:solidFill>
              </a:rPr>
              <a:t>CLIENT</a:t>
            </a:r>
            <a:endParaRPr sz="825" b="1">
              <a:solidFill>
                <a:srgbClr val="003B73"/>
              </a:solidFill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647700" y="27051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React + Vite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647700" y="3143250"/>
            <a:ext cx="2286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Responsive interface, maps, forms and personal dashboards.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15" name="box"/>
          <p:cNvSpPr>
            <a:spLocks noGrp="1"/>
          </p:cNvSpPr>
          <p:nvPr/>
        </p:nvSpPr>
        <p:spPr>
          <a:xfrm>
            <a:off x="4210050" y="1952625"/>
            <a:ext cx="3771900" cy="2247900"/>
          </a:xfrm>
          <a:prstGeom prst="roundRect">
            <a:avLst>
              <a:gd name="adj" fmla="val 3390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4438650" y="2124075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003B73"/>
                </a:solidFill>
              </a:defRPr>
            </a:pPr>
            <a:r>
              <a:rPr sz="825" b="1">
                <a:solidFill>
                  <a:srgbClr val="003B73"/>
                </a:solidFill>
              </a:rPr>
              <a:t>APPLICATION</a:t>
            </a:r>
            <a:endParaRPr sz="825" b="1">
              <a:solidFill>
                <a:srgbClr val="003B73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4438650" y="2409825"/>
            <a:ext cx="3314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Laravel 13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4438650" y="2847975"/>
            <a:ext cx="33147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Session authentication, validation, REST-style endpoints, storage and Eloquent models.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19" name="box"/>
          <p:cNvSpPr>
            <a:spLocks noGrp="1"/>
          </p:cNvSpPr>
          <p:nvPr/>
        </p:nvSpPr>
        <p:spPr>
          <a:xfrm>
            <a:off x="9029700" y="2247900"/>
            <a:ext cx="2743200" cy="1714500"/>
          </a:xfrm>
          <a:prstGeom prst="roundRect">
            <a:avLst>
              <a:gd name="adj" fmla="val 4444"/>
            </a:avLst>
          </a:prstGeom>
          <a:solidFill>
            <a:srgbClr val="EAF3EC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9258300" y="24193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003B73"/>
                </a:solidFill>
              </a:defRPr>
            </a:pPr>
            <a:r>
              <a:rPr sz="825" b="1">
                <a:solidFill>
                  <a:srgbClr val="003B73"/>
                </a:solidFill>
              </a:rPr>
              <a:t>PERSISTENCE</a:t>
            </a:r>
            <a:endParaRPr sz="825" b="1">
              <a:solidFill>
                <a:srgbClr val="003B73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9258300" y="27051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MariaDB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9258300" y="3143250"/>
            <a:ext cx="2286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Relational storage for users, profiles, preferences, timetables, reports and feedback.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23" name="box"/>
          <p:cNvSpPr>
            <a:spLocks noGrp="1"/>
          </p:cNvSpPr>
          <p:nvPr/>
        </p:nvSpPr>
        <p:spPr>
          <a:xfrm>
            <a:off x="4610100" y="4591050"/>
            <a:ext cx="2971800" cy="857250"/>
          </a:xfrm>
          <a:prstGeom prst="roundRect">
            <a:avLst>
              <a:gd name="adj" fmla="val 8889"/>
            </a:avLst>
          </a:prstGeom>
          <a:solidFill>
            <a:srgbClr val="003B73"/>
          </a:solidFill>
          <a:ln w="0">
            <a:noFill/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4857750" y="47244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C84B"/>
                </a:solidFill>
              </a:defRPr>
            </a:pPr>
            <a:r>
              <a:rPr sz="900" b="1">
                <a:solidFill>
                  <a:srgbClr val="F2C84B"/>
                </a:solidFill>
              </a:rPr>
              <a:t>EXTERNAL SERVICES</a:t>
            </a:r>
            <a:endParaRPr sz="900" b="1">
              <a:solidFill>
                <a:srgbClr val="F2C84B"/>
              </a:solidFill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4857750" y="4991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Weather • routing • official UCC updates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419100" y="5848350"/>
            <a:ext cx="1076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03B73"/>
                </a:solidFill>
              </a:defRPr>
            </a:pPr>
            <a:r>
              <a:rPr sz="1575" b="1">
                <a:solidFill>
                  <a:srgbClr val="003B73"/>
                </a:solidFill>
              </a:rPr>
              <a:t>Clear boundaries make the platform easier to test, secure and extend.</a:t>
            </a:r>
            <a:endParaRPr sz="1575" b="1">
              <a:solidFill>
                <a:srgbClr val="003B7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DATABASE DESIGN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The data model keeps personal and operational records distinct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10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419100" y="1790700"/>
            <a:ext cx="3476625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box"/>
          <p:cNvSpPr>
            <a:spLocks noGrp="1"/>
          </p:cNvSpPr>
          <p:nvPr/>
        </p:nvSpPr>
        <p:spPr>
          <a:xfrm>
            <a:off x="419100" y="1790700"/>
            <a:ext cx="3476625" cy="590550"/>
          </a:xfrm>
          <a:prstGeom prst="roundRect">
            <a:avLst>
              <a:gd name="adj" fmla="val 12903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9" name="text"/>
          <p:cNvSpPr>
            <a:spLocks noGrp="1"/>
          </p:cNvSpPr>
          <p:nvPr/>
        </p:nvSpPr>
        <p:spPr>
          <a:xfrm>
            <a:off x="647700" y="1914525"/>
            <a:ext cx="3019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03B73"/>
                </a:solidFill>
              </a:defRPr>
            </a:pPr>
            <a:r>
              <a:rPr sz="1125" b="1">
                <a:solidFill>
                  <a:srgbClr val="003B73"/>
                </a:solidFill>
              </a:rPr>
              <a:t>IDENTITY</a:t>
            </a:r>
            <a:endParaRPr sz="1125" b="1">
              <a:solidFill>
                <a:srgbClr val="003B73"/>
              </a:solidFill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647700" y="2647950"/>
            <a:ext cx="30194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02F4D"/>
                </a:solidFill>
              </a:defRPr>
            </a:pPr>
            <a:r>
              <a:rPr sz="1875" b="1">
                <a:solidFill>
                  <a:srgbClr val="102F4D"/>
                </a:solidFill>
              </a:rPr>
              <a:t>users</a:t>
            </a:r>
            <a:endParaRPr sz="1875" b="1">
              <a:solidFill>
                <a:srgbClr val="102F4D"/>
              </a:solidFill>
            </a:endParaRPr>
          </a:p>
          <a:p>
            <a:pPr algn="l">
              <a:defRPr sz="1875" b="1">
                <a:solidFill>
                  <a:srgbClr val="102F4D"/>
                </a:solidFill>
              </a:defRPr>
            </a:pPr>
            <a:r>
              <a:rPr sz="1875" b="1">
                <a:solidFill>
                  <a:srgbClr val="102F4D"/>
                </a:solidFill>
              </a:rPr>
              <a:t>profiles</a:t>
            </a:r>
            <a:endParaRPr sz="1875" b="1">
              <a:solidFill>
                <a:srgbClr val="102F4D"/>
              </a:solidFill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647700" y="3733800"/>
            <a:ext cx="30194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Login credentials and academic profile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12" name="box"/>
          <p:cNvSpPr>
            <a:spLocks noGrp="1"/>
          </p:cNvSpPr>
          <p:nvPr/>
        </p:nvSpPr>
        <p:spPr>
          <a:xfrm>
            <a:off x="4200525" y="1790700"/>
            <a:ext cx="3476625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box"/>
          <p:cNvSpPr>
            <a:spLocks noGrp="1"/>
          </p:cNvSpPr>
          <p:nvPr/>
        </p:nvSpPr>
        <p:spPr>
          <a:xfrm>
            <a:off x="4200525" y="1790700"/>
            <a:ext cx="3476625" cy="590550"/>
          </a:xfrm>
          <a:prstGeom prst="roundRect">
            <a:avLst>
              <a:gd name="adj" fmla="val 12903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4429125" y="1914525"/>
            <a:ext cx="3019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03B73"/>
                </a:solidFill>
              </a:defRPr>
            </a:pPr>
            <a:r>
              <a:rPr sz="1125" b="1">
                <a:solidFill>
                  <a:srgbClr val="003B73"/>
                </a:solidFill>
              </a:rPr>
              <a:t>PLANNING</a:t>
            </a:r>
            <a:endParaRPr sz="1125" b="1">
              <a:solidFill>
                <a:srgbClr val="003B73"/>
              </a:solidFill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4429125" y="2647950"/>
            <a:ext cx="30194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02F4D"/>
                </a:solidFill>
              </a:defRPr>
            </a:pPr>
            <a:r>
              <a:rPr sz="1875" b="1">
                <a:solidFill>
                  <a:srgbClr val="102F4D"/>
                </a:solidFill>
              </a:rPr>
              <a:t>timetable_entries</a:t>
            </a:r>
            <a:endParaRPr sz="1875" b="1">
              <a:solidFill>
                <a:srgbClr val="102F4D"/>
              </a:solidFill>
            </a:endParaRPr>
          </a:p>
          <a:p>
            <a:pPr algn="l">
              <a:defRPr sz="1875" b="1">
                <a:solidFill>
                  <a:srgbClr val="102F4D"/>
                </a:solidFill>
              </a:defRPr>
            </a:pPr>
            <a:r>
              <a:rPr sz="1875" b="1">
                <a:solidFill>
                  <a:srgbClr val="102F4D"/>
                </a:solidFill>
              </a:rPr>
              <a:t>user_preferences</a:t>
            </a:r>
            <a:endParaRPr sz="1875" b="1">
              <a:solidFill>
                <a:srgbClr val="102F4D"/>
              </a:solidFill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429125" y="3733800"/>
            <a:ext cx="30194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Courses, saved places, travel mode and visit history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17" name="box"/>
          <p:cNvSpPr>
            <a:spLocks noGrp="1"/>
          </p:cNvSpPr>
          <p:nvPr/>
        </p:nvSpPr>
        <p:spPr>
          <a:xfrm>
            <a:off x="7981950" y="1790700"/>
            <a:ext cx="3476625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8" name="box"/>
          <p:cNvSpPr>
            <a:spLocks noGrp="1"/>
          </p:cNvSpPr>
          <p:nvPr/>
        </p:nvSpPr>
        <p:spPr>
          <a:xfrm>
            <a:off x="7981950" y="1790700"/>
            <a:ext cx="3476625" cy="590550"/>
          </a:xfrm>
          <a:prstGeom prst="roundRect">
            <a:avLst>
              <a:gd name="adj" fmla="val 12903"/>
            </a:avLst>
          </a:prstGeom>
          <a:solidFill>
            <a:srgbClr val="EAF3EC"/>
          </a:solidFill>
          <a:ln w="0">
            <a:noFill/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8210550" y="1914525"/>
            <a:ext cx="3019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03B73"/>
                </a:solidFill>
              </a:defRPr>
            </a:pPr>
            <a:r>
              <a:rPr sz="1125" b="1">
                <a:solidFill>
                  <a:srgbClr val="003B73"/>
                </a:solidFill>
              </a:rPr>
              <a:t>OPERATIONS</a:t>
            </a:r>
            <a:endParaRPr sz="1125" b="1">
              <a:solidFill>
                <a:srgbClr val="003B73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8210550" y="2647950"/>
            <a:ext cx="30194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02F4D"/>
                </a:solidFill>
              </a:defRPr>
            </a:pPr>
            <a:r>
              <a:rPr sz="1875" b="1">
                <a:solidFill>
                  <a:srgbClr val="102F4D"/>
                </a:solidFill>
              </a:rPr>
              <a:t>issue_reports</a:t>
            </a:r>
            <a:endParaRPr sz="1875" b="1">
              <a:solidFill>
                <a:srgbClr val="102F4D"/>
              </a:solidFill>
            </a:endParaRPr>
          </a:p>
          <a:p>
            <a:pPr algn="l">
              <a:defRPr sz="1875" b="1">
                <a:solidFill>
                  <a:srgbClr val="102F4D"/>
                </a:solidFill>
              </a:defRPr>
            </a:pPr>
            <a:r>
              <a:rPr sz="1875" b="1">
                <a:solidFill>
                  <a:srgbClr val="102F4D"/>
                </a:solidFill>
              </a:rPr>
              <a:t>ai_feedback</a:t>
            </a:r>
            <a:endParaRPr sz="1875" b="1">
              <a:solidFill>
                <a:srgbClr val="102F4D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8210550" y="3733800"/>
            <a:ext cx="30194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Service incidents, evidence paths and answer-quality feedback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419100" y="54102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3B73"/>
                </a:solidFill>
              </a:defRPr>
            </a:pPr>
            <a:r>
              <a:rPr sz="975" b="1">
                <a:solidFill>
                  <a:srgbClr val="003B73"/>
                </a:solidFill>
              </a:rPr>
              <a:t>Design choices</a:t>
            </a:r>
            <a:endParaRPr sz="975" b="1">
              <a:solidFill>
                <a:srgbClr val="003B73"/>
              </a:solidFill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1952625" y="5334000"/>
            <a:ext cx="923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02F4D"/>
                </a:solidFill>
              </a:defRPr>
            </a:pPr>
            <a:r>
              <a:rPr sz="1350" b="0">
                <a:solidFill>
                  <a:srgbClr val="102F4D"/>
                </a:solidFill>
              </a:rPr>
              <a:t>UUID primary keys • indexed user email • JSON preference fields • timestamps • bounded validation</a:t>
            </a:r>
            <a:endParaRPr sz="1350" b="0">
              <a:solidFill>
                <a:srgbClr val="102F4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FUNCTIONAL CAPABILITIES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Implemented features cover the complete campus task cycle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11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419100" y="1619250"/>
            <a:ext cx="3476625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590550" y="17907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01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1104900" y="17716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F4D"/>
                </a:solidFill>
              </a:defRPr>
            </a:pPr>
            <a:r>
              <a:rPr sz="1425" b="1">
                <a:solidFill>
                  <a:srgbClr val="102F4D"/>
                </a:solidFill>
              </a:rPr>
              <a:t>Campus directory</a:t>
            </a:r>
            <a:endParaRPr sz="1425" b="1">
              <a:solidFill>
                <a:srgbClr val="102F4D"/>
              </a:solidFill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04900" y="21145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Search and browse campus places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11" name="box"/>
          <p:cNvSpPr>
            <a:spLocks noGrp="1"/>
          </p:cNvSpPr>
          <p:nvPr/>
        </p:nvSpPr>
        <p:spPr>
          <a:xfrm>
            <a:off x="4200525" y="1619250"/>
            <a:ext cx="3476625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4371975" y="17907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02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4886325" y="17716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F4D"/>
                </a:solidFill>
              </a:defRPr>
            </a:pPr>
            <a:r>
              <a:rPr sz="1425" b="1">
                <a:solidFill>
                  <a:srgbClr val="102F4D"/>
                </a:solidFill>
              </a:rPr>
              <a:t>Route guidance</a:t>
            </a:r>
            <a:endParaRPr sz="1425" b="1">
              <a:solidFill>
                <a:srgbClr val="102F4D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886325" y="21145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Walking route previews and steps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15" name="box"/>
          <p:cNvSpPr>
            <a:spLocks noGrp="1"/>
          </p:cNvSpPr>
          <p:nvPr/>
        </p:nvSpPr>
        <p:spPr>
          <a:xfrm>
            <a:off x="7981950" y="1619250"/>
            <a:ext cx="3476625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8153400" y="17907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03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8667750" y="17716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F4D"/>
                </a:solidFill>
              </a:defRPr>
            </a:pPr>
            <a:r>
              <a:rPr sz="1425" b="1">
                <a:solidFill>
                  <a:srgbClr val="102F4D"/>
                </a:solidFill>
              </a:rPr>
              <a:t>Personal timetable</a:t>
            </a:r>
            <a:endParaRPr sz="1425" b="1">
              <a:solidFill>
                <a:srgbClr val="102F4D"/>
              </a:solidFill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8667750" y="21145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Add, import and remove entries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19" name="box"/>
          <p:cNvSpPr>
            <a:spLocks noGrp="1"/>
          </p:cNvSpPr>
          <p:nvPr/>
        </p:nvSpPr>
        <p:spPr>
          <a:xfrm>
            <a:off x="419100" y="2971800"/>
            <a:ext cx="3476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590550" y="31432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04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1104900" y="31242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F4D"/>
                </a:solidFill>
              </a:defRPr>
            </a:pPr>
            <a:r>
              <a:rPr sz="1425" b="1">
                <a:solidFill>
                  <a:srgbClr val="102F4D"/>
                </a:solidFill>
              </a:rPr>
              <a:t>Campus updates</a:t>
            </a:r>
            <a:endParaRPr sz="1425" b="1">
              <a:solidFill>
                <a:srgbClr val="102F4D"/>
              </a:solidFill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1104900" y="34671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Present relevant official notices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23" name="box"/>
          <p:cNvSpPr>
            <a:spLocks noGrp="1"/>
          </p:cNvSpPr>
          <p:nvPr/>
        </p:nvSpPr>
        <p:spPr>
          <a:xfrm>
            <a:off x="4200525" y="2971800"/>
            <a:ext cx="3476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4371975" y="31432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05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4886325" y="31242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F4D"/>
                </a:solidFill>
              </a:defRPr>
            </a:pPr>
            <a:r>
              <a:rPr sz="1425" b="1">
                <a:solidFill>
                  <a:srgbClr val="102F4D"/>
                </a:solidFill>
              </a:rPr>
              <a:t>Weather context</a:t>
            </a:r>
            <a:endParaRPr sz="1425" b="1">
              <a:solidFill>
                <a:srgbClr val="102F4D"/>
              </a:solidFill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4886325" y="34671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Surface current Cape Coast conditions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27" name="box"/>
          <p:cNvSpPr>
            <a:spLocks noGrp="1"/>
          </p:cNvSpPr>
          <p:nvPr/>
        </p:nvSpPr>
        <p:spPr>
          <a:xfrm>
            <a:off x="7981950" y="2971800"/>
            <a:ext cx="3476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8153400" y="31432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06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8667750" y="31242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F4D"/>
                </a:solidFill>
              </a:defRPr>
            </a:pPr>
            <a:r>
              <a:rPr sz="1425" b="1">
                <a:solidFill>
                  <a:srgbClr val="102F4D"/>
                </a:solidFill>
              </a:rPr>
              <a:t>Issue reporting</a:t>
            </a:r>
            <a:endParaRPr sz="1425" b="1">
              <a:solidFill>
                <a:srgbClr val="102F4D"/>
              </a:solidFill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8667750" y="34671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Submit category, location and photo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31" name="box"/>
          <p:cNvSpPr>
            <a:spLocks noGrp="1"/>
          </p:cNvSpPr>
          <p:nvPr/>
        </p:nvSpPr>
        <p:spPr>
          <a:xfrm>
            <a:off x="419100" y="4324350"/>
            <a:ext cx="3476625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32" name="text"/>
          <p:cNvSpPr>
            <a:spLocks noGrp="1"/>
          </p:cNvSpPr>
          <p:nvPr/>
        </p:nvSpPr>
        <p:spPr>
          <a:xfrm>
            <a:off x="590550" y="44958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07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33" name="text"/>
          <p:cNvSpPr>
            <a:spLocks noGrp="1"/>
          </p:cNvSpPr>
          <p:nvPr/>
        </p:nvSpPr>
        <p:spPr>
          <a:xfrm>
            <a:off x="1104900" y="44767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F4D"/>
                </a:solidFill>
              </a:defRPr>
            </a:pPr>
            <a:r>
              <a:rPr sz="1425" b="1">
                <a:solidFill>
                  <a:srgbClr val="102F4D"/>
                </a:solidFill>
              </a:rPr>
              <a:t>Safety support</a:t>
            </a:r>
            <a:endParaRPr sz="1425" b="1">
              <a:solidFill>
                <a:srgbClr val="102F4D"/>
              </a:solidFill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1104900" y="48196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Show contacts and safe-location guidance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35" name="box"/>
          <p:cNvSpPr>
            <a:spLocks noGrp="1"/>
          </p:cNvSpPr>
          <p:nvPr/>
        </p:nvSpPr>
        <p:spPr>
          <a:xfrm>
            <a:off x="4200525" y="4324350"/>
            <a:ext cx="3476625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36" name="text"/>
          <p:cNvSpPr>
            <a:spLocks noGrp="1"/>
          </p:cNvSpPr>
          <p:nvPr/>
        </p:nvSpPr>
        <p:spPr>
          <a:xfrm>
            <a:off x="4371975" y="44958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08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37" name="text"/>
          <p:cNvSpPr>
            <a:spLocks noGrp="1"/>
          </p:cNvSpPr>
          <p:nvPr/>
        </p:nvSpPr>
        <p:spPr>
          <a:xfrm>
            <a:off x="4886325" y="44767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F4D"/>
                </a:solidFill>
              </a:defRPr>
            </a:pPr>
            <a:r>
              <a:rPr sz="1425" b="1">
                <a:solidFill>
                  <a:srgbClr val="102F4D"/>
                </a:solidFill>
              </a:rPr>
              <a:t>Preferences</a:t>
            </a:r>
            <a:endParaRPr sz="1425" b="1">
              <a:solidFill>
                <a:srgbClr val="102F4D"/>
              </a:solidFill>
            </a:endParaRPr>
          </a:p>
        </p:txBody>
      </p:sp>
      <p:sp>
        <p:nvSpPr>
          <p:cNvPr id="38" name="text"/>
          <p:cNvSpPr>
            <a:spLocks noGrp="1"/>
          </p:cNvSpPr>
          <p:nvPr/>
        </p:nvSpPr>
        <p:spPr>
          <a:xfrm>
            <a:off x="4886325" y="48196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Store accessibility and travel choices</a:t>
            </a:r>
            <a:endParaRPr sz="1125" b="0">
              <a:solidFill>
                <a:srgbClr val="647B8D"/>
              </a:solidFill>
            </a:endParaRPr>
          </a:p>
        </p:txBody>
      </p:sp>
      <p:sp>
        <p:nvSpPr>
          <p:cNvPr id="39" name="box"/>
          <p:cNvSpPr>
            <a:spLocks noGrp="1"/>
          </p:cNvSpPr>
          <p:nvPr/>
        </p:nvSpPr>
        <p:spPr>
          <a:xfrm>
            <a:off x="7981950" y="4324350"/>
            <a:ext cx="3476625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40" name="text"/>
          <p:cNvSpPr>
            <a:spLocks noGrp="1"/>
          </p:cNvSpPr>
          <p:nvPr/>
        </p:nvSpPr>
        <p:spPr>
          <a:xfrm>
            <a:off x="8153400" y="44958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C84B"/>
                </a:solidFill>
              </a:defRPr>
            </a:pPr>
            <a:r>
              <a:rPr sz="1500" b="1">
                <a:solidFill>
                  <a:srgbClr val="F2C84B"/>
                </a:solidFill>
              </a:rPr>
              <a:t>09</a:t>
            </a:r>
            <a:endParaRPr sz="1500" b="1">
              <a:solidFill>
                <a:srgbClr val="F2C84B"/>
              </a:solidFill>
            </a:endParaRPr>
          </a:p>
        </p:txBody>
      </p:sp>
      <p:sp>
        <p:nvSpPr>
          <p:cNvPr id="41" name="text"/>
          <p:cNvSpPr>
            <a:spLocks noGrp="1"/>
          </p:cNvSpPr>
          <p:nvPr/>
        </p:nvSpPr>
        <p:spPr>
          <a:xfrm>
            <a:off x="8667750" y="44767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F4D"/>
                </a:solidFill>
              </a:defRPr>
            </a:pPr>
            <a:r>
              <a:rPr sz="1425" b="1">
                <a:solidFill>
                  <a:srgbClr val="102F4D"/>
                </a:solidFill>
              </a:rPr>
              <a:t>AI assistance</a:t>
            </a:r>
            <a:endParaRPr sz="1425" b="1">
              <a:solidFill>
                <a:srgbClr val="102F4D"/>
              </a:solidFill>
            </a:endParaRPr>
          </a:p>
        </p:txBody>
      </p:sp>
      <p:sp>
        <p:nvSpPr>
          <p:cNvPr id="42" name="text"/>
          <p:cNvSpPr>
            <a:spLocks noGrp="1"/>
          </p:cNvSpPr>
          <p:nvPr/>
        </p:nvSpPr>
        <p:spPr>
          <a:xfrm>
            <a:off x="8667750" y="48196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B8D"/>
                </a:solidFill>
              </a:defRPr>
            </a:pPr>
            <a:r>
              <a:rPr sz="1125" b="0">
                <a:solidFill>
                  <a:srgbClr val="647B8D"/>
                </a:solidFill>
              </a:rPr>
              <a:t>Answer context-aware campus questions</a:t>
            </a:r>
            <a:endParaRPr sz="1125" b="0">
              <a:solidFill>
                <a:srgbClr val="647B8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IMPLEMENTATION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The technology stack prioritises maintainability and deployment choice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12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text"/>
          <p:cNvSpPr>
            <a:spLocks noGrp="1"/>
          </p:cNvSpPr>
          <p:nvPr/>
        </p:nvSpPr>
        <p:spPr>
          <a:xfrm>
            <a:off x="419100" y="1619250"/>
            <a:ext cx="119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FRONTEND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1676400" y="15906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F4D"/>
                </a:solidFill>
              </a:defRPr>
            </a:pPr>
            <a:r>
              <a:rPr sz="1725" b="1">
                <a:solidFill>
                  <a:srgbClr val="102F4D"/>
                </a:solidFill>
              </a:rPr>
              <a:t>React 19</a:t>
            </a:r>
            <a:endParaRPr sz="1725" b="1">
              <a:solidFill>
                <a:srgbClr val="102F4D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1676400" y="20002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Component-based, responsive user experience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0" name="box"/>
          <p:cNvSpPr>
            <a:spLocks noGrp="1"/>
          </p:cNvSpPr>
          <p:nvPr/>
        </p:nvSpPr>
        <p:spPr>
          <a:xfrm>
            <a:off x="419100" y="2628900"/>
            <a:ext cx="523875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6096000" y="1619250"/>
            <a:ext cx="119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BUILD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7353300" y="15906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F4D"/>
                </a:solidFill>
              </a:defRPr>
            </a:pPr>
            <a:r>
              <a:rPr sz="1725" b="1">
                <a:solidFill>
                  <a:srgbClr val="102F4D"/>
                </a:solidFill>
              </a:rPr>
              <a:t>Vite</a:t>
            </a:r>
            <a:endParaRPr sz="1725" b="1">
              <a:solidFill>
                <a:srgbClr val="102F4D"/>
              </a:solidFill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7353300" y="20002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Fast development and optimised production assets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4" name="box"/>
          <p:cNvSpPr>
            <a:spLocks noGrp="1"/>
          </p:cNvSpPr>
          <p:nvPr/>
        </p:nvSpPr>
        <p:spPr>
          <a:xfrm>
            <a:off x="6096000" y="2628900"/>
            <a:ext cx="523875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419100" y="3048000"/>
            <a:ext cx="119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BACKEND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1676400" y="30194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F4D"/>
                </a:solidFill>
              </a:defRPr>
            </a:pPr>
            <a:r>
              <a:rPr sz="1725" b="1">
                <a:solidFill>
                  <a:srgbClr val="102F4D"/>
                </a:solidFill>
              </a:rPr>
              <a:t>Laravel 13</a:t>
            </a:r>
            <a:endParaRPr sz="1725" b="1">
              <a:solidFill>
                <a:srgbClr val="102F4D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1676400" y="34290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Routing, validation, sessions, storage and APIs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8" name="box"/>
          <p:cNvSpPr>
            <a:spLocks noGrp="1"/>
          </p:cNvSpPr>
          <p:nvPr/>
        </p:nvSpPr>
        <p:spPr>
          <a:xfrm>
            <a:off x="419100" y="4057650"/>
            <a:ext cx="523875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6096000" y="3048000"/>
            <a:ext cx="119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DATABASE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7353300" y="30194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F4D"/>
                </a:solidFill>
              </a:defRPr>
            </a:pPr>
            <a:r>
              <a:rPr sz="1725" b="1">
                <a:solidFill>
                  <a:srgbClr val="102F4D"/>
                </a:solidFill>
              </a:rPr>
              <a:t>MariaDB</a:t>
            </a:r>
            <a:endParaRPr sz="1725" b="1">
              <a:solidFill>
                <a:srgbClr val="102F4D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7353300" y="34290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Reliable relational persistence and indexing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22" name="box"/>
          <p:cNvSpPr>
            <a:spLocks noGrp="1"/>
          </p:cNvSpPr>
          <p:nvPr/>
        </p:nvSpPr>
        <p:spPr>
          <a:xfrm>
            <a:off x="6096000" y="4057650"/>
            <a:ext cx="523875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419100" y="4476750"/>
            <a:ext cx="119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DATA ACCESS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1676400" y="44481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F4D"/>
                </a:solidFill>
              </a:defRPr>
            </a:pPr>
            <a:r>
              <a:rPr sz="1725" b="1">
                <a:solidFill>
                  <a:srgbClr val="102F4D"/>
                </a:solidFill>
              </a:rPr>
              <a:t>Eloquent ORM</a:t>
            </a:r>
            <a:endParaRPr sz="1725" b="1">
              <a:solidFill>
                <a:srgbClr val="102F4D"/>
              </a:solidFill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1676400" y="48577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Readable models, UUIDs, casts and queries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26" name="box"/>
          <p:cNvSpPr>
            <a:spLocks noGrp="1"/>
          </p:cNvSpPr>
          <p:nvPr/>
        </p:nvSpPr>
        <p:spPr>
          <a:xfrm>
            <a:off x="419100" y="5486400"/>
            <a:ext cx="523875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27" name="text"/>
          <p:cNvSpPr>
            <a:spLocks noGrp="1"/>
          </p:cNvSpPr>
          <p:nvPr/>
        </p:nvSpPr>
        <p:spPr>
          <a:xfrm>
            <a:off x="6096000" y="4476750"/>
            <a:ext cx="119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FILES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7353300" y="44481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2F4D"/>
                </a:solidFill>
              </a:defRPr>
            </a:pPr>
            <a:r>
              <a:rPr sz="1725" b="1">
                <a:solidFill>
                  <a:srgbClr val="102F4D"/>
                </a:solidFill>
              </a:rPr>
              <a:t>Laravel public disk</a:t>
            </a:r>
            <a:endParaRPr sz="1725" b="1">
              <a:solidFill>
                <a:srgbClr val="102F4D"/>
              </a:solidFill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7353300" y="48577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Managed incident-photo storage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30" name="box"/>
          <p:cNvSpPr>
            <a:spLocks noGrp="1"/>
          </p:cNvSpPr>
          <p:nvPr/>
        </p:nvSpPr>
        <p:spPr>
          <a:xfrm>
            <a:off x="6096000" y="5486400"/>
            <a:ext cx="523875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AI FEATURES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Campus AI converts campus context into practical guidance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13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419100" y="1619250"/>
            <a:ext cx="5238750" cy="1085850"/>
          </a:xfrm>
          <a:prstGeom prst="roundRect">
            <a:avLst>
              <a:gd name="adj" fmla="val 7018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1771650"/>
            <a:ext cx="481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3B73"/>
                </a:solidFill>
              </a:defRPr>
            </a:pPr>
            <a:r>
              <a:rPr sz="975" b="1">
                <a:solidFill>
                  <a:srgbClr val="003B73"/>
                </a:solidFill>
              </a:rPr>
              <a:t>CONVERSATIONAL SEARCH</a:t>
            </a:r>
            <a:endParaRPr sz="975" b="1">
              <a:solidFill>
                <a:srgbClr val="003B73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076450"/>
            <a:ext cx="4819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02F4D"/>
                </a:solidFill>
              </a:defRPr>
            </a:pPr>
            <a:r>
              <a:rPr sz="1275" b="0">
                <a:solidFill>
                  <a:srgbClr val="102F4D"/>
                </a:solidFill>
              </a:rPr>
              <a:t>Understands place names, aliases, common misspellings and campus-service questions.</a:t>
            </a:r>
            <a:endParaRPr sz="1275" b="0">
              <a:solidFill>
                <a:srgbClr val="102F4D"/>
              </a:solidFill>
            </a:endParaRPr>
          </a:p>
        </p:txBody>
      </p:sp>
      <p:sp>
        <p:nvSpPr>
          <p:cNvPr id="10" name="box"/>
          <p:cNvSpPr>
            <a:spLocks noGrp="1"/>
          </p:cNvSpPr>
          <p:nvPr/>
        </p:nvSpPr>
        <p:spPr>
          <a:xfrm>
            <a:off x="6096000" y="1619250"/>
            <a:ext cx="5238750" cy="1085850"/>
          </a:xfrm>
          <a:prstGeom prst="roundRect">
            <a:avLst>
              <a:gd name="adj" fmla="val 7018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6305550" y="1771650"/>
            <a:ext cx="481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3B73"/>
                </a:solidFill>
              </a:defRPr>
            </a:pPr>
            <a:r>
              <a:rPr sz="975" b="1">
                <a:solidFill>
                  <a:srgbClr val="003B73"/>
                </a:solidFill>
              </a:rPr>
              <a:t>CONTEXTUAL GUIDANCE</a:t>
            </a:r>
            <a:endParaRPr sz="975" b="1">
              <a:solidFill>
                <a:srgbClr val="003B73"/>
              </a:solidFill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6305550" y="2076450"/>
            <a:ext cx="4819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02F4D"/>
                </a:solidFill>
              </a:defRPr>
            </a:pPr>
            <a:r>
              <a:rPr sz="1275" b="0">
                <a:solidFill>
                  <a:srgbClr val="102F4D"/>
                </a:solidFill>
              </a:rPr>
              <a:t>Combines profile, timetable, saved places, recent questions, weather and location.</a:t>
            </a:r>
            <a:endParaRPr sz="1275" b="0">
              <a:solidFill>
                <a:srgbClr val="102F4D"/>
              </a:solidFill>
            </a:endParaRPr>
          </a:p>
        </p:txBody>
      </p:sp>
      <p:sp>
        <p:nvSpPr>
          <p:cNvPr id="13" name="box"/>
          <p:cNvSpPr>
            <a:spLocks noGrp="1"/>
          </p:cNvSpPr>
          <p:nvPr/>
        </p:nvSpPr>
        <p:spPr>
          <a:xfrm>
            <a:off x="419100" y="3009900"/>
            <a:ext cx="5238750" cy="1085850"/>
          </a:xfrm>
          <a:prstGeom prst="roundRect">
            <a:avLst>
              <a:gd name="adj" fmla="val 7018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628650" y="3162300"/>
            <a:ext cx="481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3B73"/>
                </a:solidFill>
              </a:defRPr>
            </a:pPr>
            <a:r>
              <a:rPr sz="975" b="1">
                <a:solidFill>
                  <a:srgbClr val="003B73"/>
                </a:solidFill>
              </a:rPr>
              <a:t>ROUTE INTELLIGENCE</a:t>
            </a:r>
            <a:endParaRPr sz="975" b="1">
              <a:solidFill>
                <a:srgbClr val="003B73"/>
              </a:solidFill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28650" y="3467100"/>
            <a:ext cx="4819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02F4D"/>
                </a:solidFill>
              </a:defRPr>
            </a:pPr>
            <a:r>
              <a:rPr sz="1275" b="0">
                <a:solidFill>
                  <a:srgbClr val="102F4D"/>
                </a:solidFill>
              </a:rPr>
              <a:t>Finds destinations, calculates walking routes and identifies nearby landmarks.</a:t>
            </a:r>
            <a:endParaRPr sz="1275" b="0">
              <a:solidFill>
                <a:srgbClr val="102F4D"/>
              </a:solidFill>
            </a:endParaRPr>
          </a:p>
        </p:txBody>
      </p:sp>
      <p:sp>
        <p:nvSpPr>
          <p:cNvPr id="16" name="box"/>
          <p:cNvSpPr>
            <a:spLocks noGrp="1"/>
          </p:cNvSpPr>
          <p:nvPr/>
        </p:nvSpPr>
        <p:spPr>
          <a:xfrm>
            <a:off x="6096000" y="3009900"/>
            <a:ext cx="5238750" cy="1085850"/>
          </a:xfrm>
          <a:prstGeom prst="roundRect">
            <a:avLst>
              <a:gd name="adj" fmla="val 7018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6305550" y="3162300"/>
            <a:ext cx="481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3B73"/>
                </a:solidFill>
              </a:defRPr>
            </a:pPr>
            <a:r>
              <a:rPr sz="975" b="1">
                <a:solidFill>
                  <a:srgbClr val="003B73"/>
                </a:solidFill>
              </a:rPr>
              <a:t>PROACTIVE SUPPORT</a:t>
            </a:r>
            <a:endParaRPr sz="975" b="1">
              <a:solidFill>
                <a:srgbClr val="003B73"/>
              </a:solidFill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6305550" y="3467100"/>
            <a:ext cx="4819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02F4D"/>
                </a:solidFill>
              </a:defRPr>
            </a:pPr>
            <a:r>
              <a:rPr sz="1275" b="0">
                <a:solidFill>
                  <a:srgbClr val="102F4D"/>
                </a:solidFill>
              </a:rPr>
              <a:t>Suggests departure times, weather precautions and timetable actions.</a:t>
            </a:r>
            <a:endParaRPr sz="1275" b="0">
              <a:solidFill>
                <a:srgbClr val="102F4D"/>
              </a:solidFill>
            </a:endParaRPr>
          </a:p>
        </p:txBody>
      </p:sp>
      <p:sp>
        <p:nvSpPr>
          <p:cNvPr id="19" name="box"/>
          <p:cNvSpPr>
            <a:spLocks noGrp="1"/>
          </p:cNvSpPr>
          <p:nvPr/>
        </p:nvSpPr>
        <p:spPr>
          <a:xfrm>
            <a:off x="419100" y="4400550"/>
            <a:ext cx="5238750" cy="1085850"/>
          </a:xfrm>
          <a:prstGeom prst="roundRect">
            <a:avLst>
              <a:gd name="adj" fmla="val 7018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628650" y="4552950"/>
            <a:ext cx="481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3B73"/>
                </a:solidFill>
              </a:defRPr>
            </a:pPr>
            <a:r>
              <a:rPr sz="975" b="1">
                <a:solidFill>
                  <a:srgbClr val="003B73"/>
                </a:solidFill>
              </a:rPr>
              <a:t>MULTILINGUAL ACCESS</a:t>
            </a:r>
            <a:endParaRPr sz="975" b="1">
              <a:solidFill>
                <a:srgbClr val="003B73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628650" y="4857750"/>
            <a:ext cx="4819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02F4D"/>
                </a:solidFill>
              </a:defRPr>
            </a:pPr>
            <a:r>
              <a:rPr sz="1275" b="0">
                <a:solidFill>
                  <a:srgbClr val="102F4D"/>
                </a:solidFill>
              </a:rPr>
              <a:t>Supports English, Fante, Twi, Ga and Ewe interface copy with browser speech services.</a:t>
            </a:r>
            <a:endParaRPr sz="1275" b="0">
              <a:solidFill>
                <a:srgbClr val="102F4D"/>
              </a:solidFill>
            </a:endParaRPr>
          </a:p>
        </p:txBody>
      </p:sp>
      <p:sp>
        <p:nvSpPr>
          <p:cNvPr id="22" name="box"/>
          <p:cNvSpPr>
            <a:spLocks noGrp="1"/>
          </p:cNvSpPr>
          <p:nvPr/>
        </p:nvSpPr>
        <p:spPr>
          <a:xfrm>
            <a:off x="6096000" y="4400550"/>
            <a:ext cx="5238750" cy="1085850"/>
          </a:xfrm>
          <a:prstGeom prst="roundRect">
            <a:avLst>
              <a:gd name="adj" fmla="val 7018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6305550" y="4552950"/>
            <a:ext cx="481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3B73"/>
                </a:solidFill>
              </a:defRPr>
            </a:pPr>
            <a:r>
              <a:rPr sz="975" b="1">
                <a:solidFill>
                  <a:srgbClr val="003B73"/>
                </a:solidFill>
              </a:rPr>
              <a:t>ACTIONABLE CHAT</a:t>
            </a:r>
            <a:endParaRPr sz="975" b="1">
              <a:solidFill>
                <a:srgbClr val="003B73"/>
              </a:solidFill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6305550" y="4857750"/>
            <a:ext cx="4819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02F4D"/>
                </a:solidFill>
              </a:defRPr>
            </a:pPr>
            <a:r>
              <a:rPr sz="1275" b="0">
                <a:solidFill>
                  <a:srgbClr val="102F4D"/>
                </a:solidFill>
              </a:rPr>
              <a:t>Starts issue reports, surfaces official updates and links answers to map actions.</a:t>
            </a:r>
            <a:endParaRPr sz="1275" b="0">
              <a:solidFill>
                <a:srgbClr val="102F4D"/>
              </a:solidFill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419100" y="5915025"/>
            <a:ext cx="1078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3B73"/>
                </a:solidFill>
              </a:defRPr>
            </a:pPr>
            <a:r>
              <a:rPr sz="1500" b="1">
                <a:solidFill>
                  <a:srgbClr val="003B73"/>
                </a:solidFill>
              </a:rPr>
              <a:t>The assistant is designed around campus tasks, not unrestricted general conversation.</a:t>
            </a:r>
            <a:endParaRPr sz="1500" b="1">
              <a:solidFill>
                <a:srgbClr val="003B7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AI MODELS USED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The current assistant uses transparent deterministic models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14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419100" y="1619250"/>
            <a:ext cx="5238750" cy="1371600"/>
          </a:xfrm>
          <a:prstGeom prst="roundRect">
            <a:avLst>
              <a:gd name="adj" fmla="val 5556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09600" y="17907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2C84B"/>
                </a:solidFill>
              </a:defRPr>
            </a:pPr>
            <a:r>
              <a:rPr sz="1650" b="1">
                <a:solidFill>
                  <a:srgbClr val="F2C84B"/>
                </a:solidFill>
              </a:rPr>
              <a:t>01</a:t>
            </a:r>
            <a:endParaRPr sz="1650" b="1">
              <a:solidFill>
                <a:srgbClr val="F2C84B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1162050" y="1771650"/>
            <a:ext cx="423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Intent classification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62050" y="2133600"/>
            <a:ext cx="4238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Regular-expression and keyword rules identify directions, shuttle, discovery, safety, updates and reporting intents.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1" name="box"/>
          <p:cNvSpPr>
            <a:spLocks noGrp="1"/>
          </p:cNvSpPr>
          <p:nvPr/>
        </p:nvSpPr>
        <p:spPr>
          <a:xfrm>
            <a:off x="6096000" y="1619250"/>
            <a:ext cx="5238750" cy="1371600"/>
          </a:xfrm>
          <a:prstGeom prst="roundRect">
            <a:avLst>
              <a:gd name="adj" fmla="val 5556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6286500" y="17907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2C84B"/>
                </a:solidFill>
              </a:defRPr>
            </a:pPr>
            <a:r>
              <a:rPr sz="1650" b="1">
                <a:solidFill>
                  <a:srgbClr val="F2C84B"/>
                </a:solidFill>
              </a:rPr>
              <a:t>02</a:t>
            </a:r>
            <a:endParaRPr sz="1650" b="1">
              <a:solidFill>
                <a:srgbClr val="F2C84B"/>
              </a:solidFill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6838950" y="1771650"/>
            <a:ext cx="423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Entity resolution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6838950" y="2133600"/>
            <a:ext cx="4238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Aliases, direct name matching and Levenshtein edit distance resolve campus destinations; acceptance threshold is 0.42.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5" name="box"/>
          <p:cNvSpPr>
            <a:spLocks noGrp="1"/>
          </p:cNvSpPr>
          <p:nvPr/>
        </p:nvSpPr>
        <p:spPr>
          <a:xfrm>
            <a:off x="419100" y="3276600"/>
            <a:ext cx="5238750" cy="1371600"/>
          </a:xfrm>
          <a:prstGeom prst="roundRect">
            <a:avLst>
              <a:gd name="adj" fmla="val 5556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609600" y="34480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2C84B"/>
                </a:solidFill>
              </a:defRPr>
            </a:pPr>
            <a:r>
              <a:rPr sz="1650" b="1">
                <a:solidFill>
                  <a:srgbClr val="F2C84B"/>
                </a:solidFill>
              </a:rPr>
              <a:t>03</a:t>
            </a:r>
            <a:endParaRPr sz="1650" b="1">
              <a:solidFill>
                <a:srgbClr val="F2C84B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1162050" y="3429000"/>
            <a:ext cx="423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Proximity ranking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1162050" y="3790950"/>
            <a:ext cx="4238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Haversine distance ranks nearby services, with an accessibility penalty when accessible travel is preferred.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19" name="box"/>
          <p:cNvSpPr>
            <a:spLocks noGrp="1"/>
          </p:cNvSpPr>
          <p:nvPr/>
        </p:nvSpPr>
        <p:spPr>
          <a:xfrm>
            <a:off x="6096000" y="3276600"/>
            <a:ext cx="5238750" cy="1371600"/>
          </a:xfrm>
          <a:prstGeom prst="roundRect">
            <a:avLst>
              <a:gd name="adj" fmla="val 5556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6286500" y="34480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2C84B"/>
                </a:solidFill>
              </a:defRPr>
            </a:pPr>
            <a:r>
              <a:rPr sz="1650" b="1">
                <a:solidFill>
                  <a:srgbClr val="F2C84B"/>
                </a:solidFill>
              </a:rPr>
              <a:t>04</a:t>
            </a:r>
            <a:endParaRPr sz="1650" b="1">
              <a:solidFill>
                <a:srgbClr val="F2C84B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6838950" y="3429000"/>
            <a:ext cx="423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Context model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6838950" y="3790950"/>
            <a:ext cx="4238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47B8D"/>
                </a:solidFill>
              </a:defRPr>
            </a:pPr>
            <a:r>
              <a:rPr sz="1200" b="0">
                <a:solidFill>
                  <a:srgbClr val="647B8D"/>
                </a:solidFill>
              </a:rPr>
              <a:t>Rules combine timetable, weather, profile, location, saved places and recent interactions to generate suggestions.</a:t>
            </a:r>
            <a:endParaRPr sz="1200" b="0">
              <a:solidFill>
                <a:srgbClr val="647B8D"/>
              </a:solidFill>
            </a:endParaRPr>
          </a:p>
        </p:txBody>
      </p:sp>
      <p:sp>
        <p:nvSpPr>
          <p:cNvPr id="23" name="box"/>
          <p:cNvSpPr>
            <a:spLocks noGrp="1"/>
          </p:cNvSpPr>
          <p:nvPr/>
        </p:nvSpPr>
        <p:spPr>
          <a:xfrm>
            <a:off x="419100" y="5181600"/>
            <a:ext cx="10782300" cy="723900"/>
          </a:xfrm>
          <a:prstGeom prst="roundRect">
            <a:avLst>
              <a:gd name="adj" fmla="val 10526"/>
            </a:avLst>
          </a:prstGeom>
          <a:solidFill>
            <a:srgbClr val="003B73"/>
          </a:solidFill>
          <a:ln w="0">
            <a:noFill/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647700" y="5314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2C84B"/>
                </a:solidFill>
              </a:defRPr>
            </a:pPr>
            <a:r>
              <a:rPr sz="825" b="1">
                <a:solidFill>
                  <a:srgbClr val="F2C84B"/>
                </a:solidFill>
              </a:rPr>
              <a:t>MODEL BOUNDARY</a:t>
            </a:r>
            <a:endParaRPr sz="825" b="1">
              <a:solidFill>
                <a:srgbClr val="F2C84B"/>
              </a:solidFill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2381250" y="523875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No GPT, foundation model or trained neural model is called in the current implementation; responses remain inspectable and reproducible.</a:t>
            </a:r>
            <a:endParaRPr sz="14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AI PIPELINE &amp; RESPONSIBLE USE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Grounding and feedback keep AI answers tied to campus evidence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15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ai-connector-0"/>
          <p:cNvSpPr>
            <a:spLocks noGrp="1"/>
          </p:cNvSpPr>
          <p:nvPr/>
        </p:nvSpPr>
        <p:spPr>
          <a:xfrm>
            <a:off x="2343150" y="2686050"/>
            <a:ext cx="647700" cy="381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8" name="ai-connector-1"/>
          <p:cNvSpPr>
            <a:spLocks noGrp="1"/>
          </p:cNvSpPr>
          <p:nvPr/>
        </p:nvSpPr>
        <p:spPr>
          <a:xfrm>
            <a:off x="4686300" y="2686050"/>
            <a:ext cx="647700" cy="381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9" name="ai-connector-2"/>
          <p:cNvSpPr>
            <a:spLocks noGrp="1"/>
          </p:cNvSpPr>
          <p:nvPr/>
        </p:nvSpPr>
        <p:spPr>
          <a:xfrm>
            <a:off x="7029450" y="2686050"/>
            <a:ext cx="647700" cy="381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0" name="ai-connector-3"/>
          <p:cNvSpPr>
            <a:spLocks noGrp="1"/>
          </p:cNvSpPr>
          <p:nvPr/>
        </p:nvSpPr>
        <p:spPr>
          <a:xfrm>
            <a:off x="9372600" y="2686050"/>
            <a:ext cx="647700" cy="381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1" name="box"/>
          <p:cNvSpPr>
            <a:spLocks noGrp="1"/>
          </p:cNvSpPr>
          <p:nvPr/>
        </p:nvSpPr>
        <p:spPr>
          <a:xfrm>
            <a:off x="419100" y="2038350"/>
            <a:ext cx="2057400" cy="142875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571500" y="21526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2C84B"/>
                </a:solidFill>
              </a:defRPr>
            </a:pPr>
            <a:r>
              <a:rPr sz="1575" b="1">
                <a:solidFill>
                  <a:srgbClr val="F2C84B"/>
                </a:solidFill>
              </a:rPr>
              <a:t>1</a:t>
            </a:r>
            <a:endParaRPr sz="1575" b="1">
              <a:solidFill>
                <a:srgbClr val="F2C84B"/>
              </a:solidFill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571500" y="25336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INPUT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571500" y="2838450"/>
            <a:ext cx="1752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Text or browser speech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15" name="box"/>
          <p:cNvSpPr>
            <a:spLocks noGrp="1"/>
          </p:cNvSpPr>
          <p:nvPr/>
        </p:nvSpPr>
        <p:spPr>
          <a:xfrm>
            <a:off x="2762250" y="2038350"/>
            <a:ext cx="2057400" cy="1428750"/>
          </a:xfrm>
          <a:prstGeom prst="roundRect">
            <a:avLst>
              <a:gd name="adj" fmla="val 5333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2914650" y="21526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2C84B"/>
                </a:solidFill>
              </a:defRPr>
            </a:pPr>
            <a:r>
              <a:rPr sz="1575" b="1">
                <a:solidFill>
                  <a:srgbClr val="F2C84B"/>
                </a:solidFill>
              </a:rPr>
              <a:t>2</a:t>
            </a:r>
            <a:endParaRPr sz="1575" b="1">
              <a:solidFill>
                <a:srgbClr val="F2C84B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2914650" y="25336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INTERPRET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2914650" y="2838450"/>
            <a:ext cx="1752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Intent + destination match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19" name="box"/>
          <p:cNvSpPr>
            <a:spLocks noGrp="1"/>
          </p:cNvSpPr>
          <p:nvPr/>
        </p:nvSpPr>
        <p:spPr>
          <a:xfrm>
            <a:off x="5105400" y="2038350"/>
            <a:ext cx="2057400" cy="142875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5257800" y="21526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2C84B"/>
                </a:solidFill>
              </a:defRPr>
            </a:pPr>
            <a:r>
              <a:rPr sz="1575" b="1">
                <a:solidFill>
                  <a:srgbClr val="F2C84B"/>
                </a:solidFill>
              </a:rPr>
              <a:t>3</a:t>
            </a:r>
            <a:endParaRPr sz="1575" b="1">
              <a:solidFill>
                <a:srgbClr val="F2C84B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5257800" y="25336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GROUND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5257800" y="2838450"/>
            <a:ext cx="1752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Campus data + live services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23" name="box"/>
          <p:cNvSpPr>
            <a:spLocks noGrp="1"/>
          </p:cNvSpPr>
          <p:nvPr/>
        </p:nvSpPr>
        <p:spPr>
          <a:xfrm>
            <a:off x="7448550" y="2038350"/>
            <a:ext cx="2057400" cy="1428750"/>
          </a:xfrm>
          <a:prstGeom prst="roundRect">
            <a:avLst>
              <a:gd name="adj" fmla="val 5333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7600950" y="21526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2C84B"/>
                </a:solidFill>
              </a:defRPr>
            </a:pPr>
            <a:r>
              <a:rPr sz="1575" b="1">
                <a:solidFill>
                  <a:srgbClr val="F2C84B"/>
                </a:solidFill>
              </a:rPr>
              <a:t>4</a:t>
            </a:r>
            <a:endParaRPr sz="1575" b="1">
              <a:solidFill>
                <a:srgbClr val="F2C84B"/>
              </a:solidFill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7600950" y="25336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PERSONALISE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7600950" y="2838450"/>
            <a:ext cx="1752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Profile + timetable + preferences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27" name="box"/>
          <p:cNvSpPr>
            <a:spLocks noGrp="1"/>
          </p:cNvSpPr>
          <p:nvPr/>
        </p:nvSpPr>
        <p:spPr>
          <a:xfrm>
            <a:off x="9791700" y="2038350"/>
            <a:ext cx="2057400" cy="142875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9944100" y="21526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2C84B"/>
                </a:solidFill>
              </a:defRPr>
            </a:pPr>
            <a:r>
              <a:rPr sz="1575" b="1">
                <a:solidFill>
                  <a:srgbClr val="F2C84B"/>
                </a:solidFill>
              </a:rPr>
              <a:t>5</a:t>
            </a:r>
            <a:endParaRPr sz="1575" b="1">
              <a:solidFill>
                <a:srgbClr val="F2C84B"/>
              </a:solidFill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9944100" y="25336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ACT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9944100" y="2838450"/>
            <a:ext cx="1752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Answer, route, report or update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31" name="box"/>
          <p:cNvSpPr>
            <a:spLocks noGrp="1"/>
          </p:cNvSpPr>
          <p:nvPr/>
        </p:nvSpPr>
        <p:spPr>
          <a:xfrm>
            <a:off x="419100" y="3895725"/>
            <a:ext cx="5238750" cy="1581150"/>
          </a:xfrm>
          <a:prstGeom prst="roundRect">
            <a:avLst>
              <a:gd name="adj" fmla="val 4819"/>
            </a:avLst>
          </a:prstGeom>
          <a:solidFill>
            <a:srgbClr val="EAF3EC"/>
          </a:solidFill>
          <a:ln w="0">
            <a:noFill/>
            <a:prstDash val="solid"/>
          </a:ln>
        </p:spPr>
      </p:sp>
      <p:sp>
        <p:nvSpPr>
          <p:cNvPr id="32" name="text"/>
          <p:cNvSpPr>
            <a:spLocks noGrp="1"/>
          </p:cNvSpPr>
          <p:nvPr/>
        </p:nvSpPr>
        <p:spPr>
          <a:xfrm>
            <a:off x="647700" y="4067175"/>
            <a:ext cx="4781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003B73"/>
                </a:solidFill>
              </a:defRPr>
            </a:pPr>
            <a:r>
              <a:rPr sz="825" b="1">
                <a:solidFill>
                  <a:srgbClr val="003B73"/>
                </a:solidFill>
              </a:rPr>
              <a:t>QUALITY CONTROL</a:t>
            </a:r>
            <a:endParaRPr sz="825" b="1">
              <a:solidFill>
                <a:srgbClr val="003B73"/>
              </a:solidFill>
            </a:endParaRPr>
          </a:p>
        </p:txBody>
      </p:sp>
      <p:sp>
        <p:nvSpPr>
          <p:cNvPr id="33" name="text"/>
          <p:cNvSpPr>
            <a:spLocks noGrp="1"/>
          </p:cNvSpPr>
          <p:nvPr/>
        </p:nvSpPr>
        <p:spPr>
          <a:xfrm>
            <a:off x="647700" y="4352925"/>
            <a:ext cx="4781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Human feedback loop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647700" y="4791075"/>
            <a:ext cx="4781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Helpful, not-helpful and incorrect ratings are stored with the question, answer and correction for review.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35" name="box"/>
          <p:cNvSpPr>
            <a:spLocks noGrp="1"/>
          </p:cNvSpPr>
          <p:nvPr/>
        </p:nvSpPr>
        <p:spPr>
          <a:xfrm>
            <a:off x="5962650" y="3895725"/>
            <a:ext cx="5238750" cy="1581150"/>
          </a:xfrm>
          <a:prstGeom prst="roundRect">
            <a:avLst>
              <a:gd name="adj" fmla="val 4819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36" name="text"/>
          <p:cNvSpPr>
            <a:spLocks noGrp="1"/>
          </p:cNvSpPr>
          <p:nvPr/>
        </p:nvSpPr>
        <p:spPr>
          <a:xfrm>
            <a:off x="6191250" y="4067175"/>
            <a:ext cx="4781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003B73"/>
                </a:solidFill>
              </a:defRPr>
            </a:pPr>
            <a:r>
              <a:rPr sz="825" b="1">
                <a:solidFill>
                  <a:srgbClr val="003B73"/>
                </a:solidFill>
              </a:rPr>
              <a:t>FUTURE INTEGRATION</a:t>
            </a:r>
            <a:endParaRPr sz="825" b="1">
              <a:solidFill>
                <a:srgbClr val="003B73"/>
              </a:solidFill>
            </a:endParaRPr>
          </a:p>
        </p:txBody>
      </p:sp>
      <p:sp>
        <p:nvSpPr>
          <p:cNvPr id="37" name="text"/>
          <p:cNvSpPr>
            <a:spLocks noGrp="1"/>
          </p:cNvSpPr>
          <p:nvPr/>
        </p:nvSpPr>
        <p:spPr>
          <a:xfrm>
            <a:off x="6191250" y="4352925"/>
            <a:ext cx="4781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F4D"/>
                </a:solidFill>
              </a:defRPr>
            </a:pPr>
            <a:r>
              <a:rPr sz="1800" b="1">
                <a:solidFill>
                  <a:srgbClr val="102F4D"/>
                </a:solidFill>
              </a:rPr>
              <a:t>Retrieval-grounded language model</a:t>
            </a:r>
            <a:endParaRPr sz="1800" b="1">
              <a:solidFill>
                <a:srgbClr val="102F4D"/>
              </a:solidFill>
            </a:endParaRPr>
          </a:p>
        </p:txBody>
      </p:sp>
      <p:sp>
        <p:nvSpPr>
          <p:cNvPr id="38" name="text"/>
          <p:cNvSpPr>
            <a:spLocks noGrp="1"/>
          </p:cNvSpPr>
          <p:nvPr/>
        </p:nvSpPr>
        <p:spPr>
          <a:xfrm>
            <a:off x="6191250" y="4791075"/>
            <a:ext cx="4781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A future LLM should sit behind Laravel, retrieve approved UCC content, cite sources and fall back safely when evidence is missing.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39" name="text"/>
          <p:cNvSpPr>
            <a:spLocks noGrp="1"/>
          </p:cNvSpPr>
          <p:nvPr/>
        </p:nvSpPr>
        <p:spPr>
          <a:xfrm>
            <a:off x="419100" y="5886450"/>
            <a:ext cx="1078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3B73"/>
                </a:solidFill>
              </a:defRPr>
            </a:pPr>
            <a:r>
              <a:rPr sz="1500" b="1">
                <a:solidFill>
                  <a:srgbClr val="003B73"/>
                </a:solidFill>
              </a:rPr>
              <a:t>Principle: assist decisions while preserving source visibility, user control and clear uncertainty.</a:t>
            </a:r>
            <a:endParaRPr sz="1500" b="1">
              <a:solidFill>
                <a:srgbClr val="003B7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SECURITY &amp; PRIVACY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Security controls are built into every write path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16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419100" y="1657350"/>
            <a:ext cx="5238750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1809750"/>
            <a:ext cx="1714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3B73"/>
                </a:solidFill>
              </a:defRPr>
            </a:pPr>
            <a:r>
              <a:rPr sz="1350" b="1">
                <a:solidFill>
                  <a:srgbClr val="003B73"/>
                </a:solidFill>
              </a:rPr>
              <a:t>Authentication</a:t>
            </a:r>
            <a:endParaRPr sz="1350" b="1">
              <a:solidFill>
                <a:srgbClr val="003B73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133600"/>
            <a:ext cx="4810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Laravel sessions, password hashing and session regeneration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10" name="box"/>
          <p:cNvSpPr>
            <a:spLocks noGrp="1"/>
          </p:cNvSpPr>
          <p:nvPr/>
        </p:nvSpPr>
        <p:spPr>
          <a:xfrm>
            <a:off x="6096000" y="1657350"/>
            <a:ext cx="5238750" cy="1066800"/>
          </a:xfrm>
          <a:prstGeom prst="roundRect">
            <a:avLst>
              <a:gd name="adj" fmla="val 7143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6305550" y="1809750"/>
            <a:ext cx="1714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3B73"/>
                </a:solidFill>
              </a:defRPr>
            </a:pPr>
            <a:r>
              <a:rPr sz="1350" b="1">
                <a:solidFill>
                  <a:srgbClr val="003B73"/>
                </a:solidFill>
              </a:rPr>
              <a:t>Authorisation</a:t>
            </a:r>
            <a:endParaRPr sz="1350" b="1">
              <a:solidFill>
                <a:srgbClr val="003B73"/>
              </a:solidFill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6305550" y="2133600"/>
            <a:ext cx="4810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Protected write routes and user-scoped timetable deletion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13" name="box"/>
          <p:cNvSpPr>
            <a:spLocks noGrp="1"/>
          </p:cNvSpPr>
          <p:nvPr/>
        </p:nvSpPr>
        <p:spPr>
          <a:xfrm>
            <a:off x="419100" y="3019425"/>
            <a:ext cx="5238750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628650" y="3171825"/>
            <a:ext cx="1714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3B73"/>
                </a:solidFill>
              </a:defRPr>
            </a:pPr>
            <a:r>
              <a:rPr sz="1350" b="1">
                <a:solidFill>
                  <a:srgbClr val="003B73"/>
                </a:solidFill>
              </a:rPr>
              <a:t>Validation</a:t>
            </a:r>
            <a:endParaRPr sz="1350" b="1">
              <a:solidFill>
                <a:srgbClr val="003B73"/>
              </a:solidFill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28650" y="3495675"/>
            <a:ext cx="4810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Allow-lists, length limits, time formats and numeric constraints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16" name="box"/>
          <p:cNvSpPr>
            <a:spLocks noGrp="1"/>
          </p:cNvSpPr>
          <p:nvPr/>
        </p:nvSpPr>
        <p:spPr>
          <a:xfrm>
            <a:off x="6096000" y="3019425"/>
            <a:ext cx="5238750" cy="1066800"/>
          </a:xfrm>
          <a:prstGeom prst="roundRect">
            <a:avLst>
              <a:gd name="adj" fmla="val 7143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6305550" y="3171825"/>
            <a:ext cx="1714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3B73"/>
                </a:solidFill>
              </a:defRPr>
            </a:pPr>
            <a:r>
              <a:rPr sz="1350" b="1">
                <a:solidFill>
                  <a:srgbClr val="003B73"/>
                </a:solidFill>
              </a:rPr>
              <a:t>CSRF protection</a:t>
            </a:r>
            <a:endParaRPr sz="1350" b="1">
              <a:solidFill>
                <a:srgbClr val="003B73"/>
              </a:solidFill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6305550" y="3495675"/>
            <a:ext cx="4810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Token attached to same-origin browser requests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19" name="box"/>
          <p:cNvSpPr>
            <a:spLocks noGrp="1"/>
          </p:cNvSpPr>
          <p:nvPr/>
        </p:nvSpPr>
        <p:spPr>
          <a:xfrm>
            <a:off x="419100" y="4381500"/>
            <a:ext cx="5238750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628650" y="4533900"/>
            <a:ext cx="1714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3B73"/>
                </a:solidFill>
              </a:defRPr>
            </a:pPr>
            <a:r>
              <a:rPr sz="1350" b="1">
                <a:solidFill>
                  <a:srgbClr val="003B73"/>
                </a:solidFill>
              </a:rPr>
              <a:t>Upload safety</a:t>
            </a:r>
            <a:endParaRPr sz="1350" b="1">
              <a:solidFill>
                <a:srgbClr val="003B73"/>
              </a:solidFill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628650" y="4857750"/>
            <a:ext cx="4810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Image-only files, 5 MB limit and managed storage paths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22" name="box"/>
          <p:cNvSpPr>
            <a:spLocks noGrp="1"/>
          </p:cNvSpPr>
          <p:nvPr/>
        </p:nvSpPr>
        <p:spPr>
          <a:xfrm>
            <a:off x="6096000" y="4381500"/>
            <a:ext cx="5238750" cy="1066800"/>
          </a:xfrm>
          <a:prstGeom prst="roundRect">
            <a:avLst>
              <a:gd name="adj" fmla="val 7143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6305550" y="4533900"/>
            <a:ext cx="1714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3B73"/>
                </a:solidFill>
              </a:defRPr>
            </a:pPr>
            <a:r>
              <a:rPr sz="1350" b="1">
                <a:solidFill>
                  <a:srgbClr val="003B73"/>
                </a:solidFill>
              </a:rPr>
              <a:t>Data minimisation</a:t>
            </a:r>
            <a:endParaRPr sz="1350" b="1">
              <a:solidFill>
                <a:srgbClr val="003B73"/>
              </a:solidFill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6305550" y="4857750"/>
            <a:ext cx="4810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F4D"/>
                </a:solidFill>
              </a:defRPr>
            </a:pPr>
            <a:r>
              <a:rPr sz="1200" b="0">
                <a:solidFill>
                  <a:srgbClr val="102F4D"/>
                </a:solidFill>
              </a:rPr>
              <a:t>Only task-relevant identity, preference and feedback fields</a:t>
            </a:r>
            <a:endParaRPr sz="1200" b="0">
              <a:solidFill>
                <a:srgbClr val="102F4D"/>
              </a:solidFill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419100" y="5905500"/>
            <a:ext cx="10782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03B73"/>
                </a:solidFill>
              </a:defRPr>
            </a:pPr>
            <a:r>
              <a:rPr sz="1575" b="1">
                <a:solidFill>
                  <a:srgbClr val="003B73"/>
                </a:solidFill>
              </a:rPr>
              <a:t>Security is a system property, not a single feature.</a:t>
            </a:r>
            <a:endParaRPr sz="1575" b="1">
              <a:solidFill>
                <a:srgbClr val="003B7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VALIDATION &amp; EVALUATION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Verification confirms the backend structure is deployable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17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419100" y="1752600"/>
            <a:ext cx="3476625" cy="2324100"/>
          </a:xfrm>
          <a:prstGeom prst="roundRect">
            <a:avLst>
              <a:gd name="adj" fmla="val 3279"/>
            </a:avLst>
          </a:prstGeom>
          <a:solidFill>
            <a:srgbClr val="E7F0F8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47700" y="2000250"/>
            <a:ext cx="30194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3B73"/>
                </a:solidFill>
              </a:defRPr>
            </a:pPr>
            <a:r>
              <a:rPr sz="3600" b="1">
                <a:solidFill>
                  <a:srgbClr val="003B73"/>
                </a:solidFill>
              </a:rPr>
              <a:t>19</a:t>
            </a:r>
            <a:endParaRPr sz="3600" b="1">
              <a:solidFill>
                <a:srgbClr val="003B73"/>
              </a:solidFill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47700" y="2724150"/>
            <a:ext cx="3019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3B73"/>
                </a:solidFill>
              </a:defRPr>
            </a:pPr>
            <a:r>
              <a:rPr sz="975" b="1">
                <a:solidFill>
                  <a:srgbClr val="003B73"/>
                </a:solidFill>
              </a:rPr>
              <a:t>ROUTES LOADED</a:t>
            </a:r>
            <a:endParaRPr sz="975" b="1">
              <a:solidFill>
                <a:srgbClr val="003B73"/>
              </a:solidFill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647700" y="3124200"/>
            <a:ext cx="30194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Authentication, pages, APIs, storage and health endpoints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11" name="box"/>
          <p:cNvSpPr>
            <a:spLocks noGrp="1"/>
          </p:cNvSpPr>
          <p:nvPr/>
        </p:nvSpPr>
        <p:spPr>
          <a:xfrm>
            <a:off x="4200525" y="1752600"/>
            <a:ext cx="3476625" cy="2324100"/>
          </a:xfrm>
          <a:prstGeom prst="roundRect">
            <a:avLst>
              <a:gd name="adj" fmla="val 3279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4429125" y="2000250"/>
            <a:ext cx="30194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3B73"/>
                </a:solidFill>
              </a:defRPr>
            </a:pPr>
            <a:r>
              <a:rPr sz="3600" b="1">
                <a:solidFill>
                  <a:srgbClr val="003B73"/>
                </a:solidFill>
              </a:rPr>
              <a:t>6</a:t>
            </a:r>
            <a:endParaRPr sz="3600" b="1">
              <a:solidFill>
                <a:srgbClr val="003B73"/>
              </a:solidFill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4429125" y="2724150"/>
            <a:ext cx="3019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3B73"/>
                </a:solidFill>
              </a:defRPr>
            </a:pPr>
            <a:r>
              <a:rPr sz="975" b="1">
                <a:solidFill>
                  <a:srgbClr val="003B73"/>
                </a:solidFill>
              </a:rPr>
              <a:t>CAMPUS TABLES</a:t>
            </a:r>
            <a:endParaRPr sz="975" b="1">
              <a:solidFill>
                <a:srgbClr val="003B73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429125" y="3124200"/>
            <a:ext cx="30194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Profiles, timetables, preferences, reports and feedback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15" name="box"/>
          <p:cNvSpPr>
            <a:spLocks noGrp="1"/>
          </p:cNvSpPr>
          <p:nvPr/>
        </p:nvSpPr>
        <p:spPr>
          <a:xfrm>
            <a:off x="7981950" y="1752600"/>
            <a:ext cx="3476625" cy="2324100"/>
          </a:xfrm>
          <a:prstGeom prst="roundRect">
            <a:avLst>
              <a:gd name="adj" fmla="val 3279"/>
            </a:avLst>
          </a:prstGeom>
          <a:solidFill>
            <a:srgbClr val="EAF3EC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8210550" y="2000250"/>
            <a:ext cx="30194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3B73"/>
                </a:solidFill>
              </a:defRPr>
            </a:pPr>
            <a:r>
              <a:rPr sz="3600" b="1">
                <a:solidFill>
                  <a:srgbClr val="003B73"/>
                </a:solidFill>
              </a:rPr>
              <a:t>0</a:t>
            </a:r>
            <a:endParaRPr sz="3600" b="1">
              <a:solidFill>
                <a:srgbClr val="003B73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8210550" y="2724150"/>
            <a:ext cx="3019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3B73"/>
                </a:solidFill>
              </a:defRPr>
            </a:pPr>
            <a:r>
              <a:rPr sz="975" b="1">
                <a:solidFill>
                  <a:srgbClr val="003B73"/>
                </a:solidFill>
              </a:rPr>
              <a:t>PHP SYNTAX ERRORS</a:t>
            </a:r>
            <a:endParaRPr sz="975" b="1">
              <a:solidFill>
                <a:srgbClr val="003B73"/>
              </a:solidFill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8210550" y="3124200"/>
            <a:ext cx="30194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Controllers, models, routes and migrations validated</a:t>
            </a:r>
            <a:endParaRPr sz="1275" b="0">
              <a:solidFill>
                <a:srgbClr val="647B8D"/>
              </a:solidFill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419100" y="44767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03B73"/>
                </a:solidFill>
              </a:defRPr>
            </a:pPr>
            <a:r>
              <a:rPr sz="1050" b="1">
                <a:solidFill>
                  <a:srgbClr val="003B73"/>
                </a:solidFill>
              </a:rPr>
              <a:t>Database verification</a:t>
            </a:r>
            <a:endParaRPr sz="1050" b="1">
              <a:solidFill>
                <a:srgbClr val="003B73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419100" y="4819650"/>
            <a:ext cx="723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A clean migration run created the complete schema successfully. Route inspection confirmed the expected application surface.</a:t>
            </a:r>
            <a:endParaRPr sz="1500" b="1">
              <a:solidFill>
                <a:srgbClr val="102F4D"/>
              </a:solidFill>
            </a:endParaRPr>
          </a:p>
        </p:txBody>
      </p:sp>
      <p:sp>
        <p:nvSpPr>
          <p:cNvPr id="21" name="box"/>
          <p:cNvSpPr>
            <a:spLocks noGrp="1"/>
          </p:cNvSpPr>
          <p:nvPr/>
        </p:nvSpPr>
        <p:spPr>
          <a:xfrm>
            <a:off x="8096250" y="4495800"/>
            <a:ext cx="3105150" cy="1123950"/>
          </a:xfrm>
          <a:prstGeom prst="roundRect">
            <a:avLst>
              <a:gd name="adj" fmla="val 6780"/>
            </a:avLst>
          </a:prstGeom>
          <a:solidFill>
            <a:srgbClr val="003B73"/>
          </a:solidFill>
          <a:ln w="0">
            <a:noFill/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8324850" y="4648200"/>
            <a:ext cx="2647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C84B"/>
                </a:solidFill>
              </a:defRPr>
            </a:pPr>
            <a:r>
              <a:rPr sz="900" b="1">
                <a:solidFill>
                  <a:srgbClr val="F2C84B"/>
                </a:solidFill>
              </a:rPr>
              <a:t>NEXT EVALUATION STEP</a:t>
            </a:r>
            <a:endParaRPr sz="900" b="1">
              <a:solidFill>
                <a:srgbClr val="F2C84B"/>
              </a:solidFill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8324850" y="4933950"/>
            <a:ext cx="2647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Task-based usability study with students, staff and first-time visitors.</a:t>
            </a:r>
            <a:endParaRPr sz="13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LIMITATIONS &amp; FUTURE WORK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The prototype establishes a base for institutional-scale deployment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18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text"/>
          <p:cNvSpPr>
            <a:spLocks noGrp="1"/>
          </p:cNvSpPr>
          <p:nvPr/>
        </p:nvSpPr>
        <p:spPr>
          <a:xfrm>
            <a:off x="419100" y="15811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B5473C"/>
                </a:solidFill>
              </a:defRPr>
            </a:pPr>
            <a:r>
              <a:rPr sz="750" b="1">
                <a:solidFill>
                  <a:srgbClr val="B5473C"/>
                </a:solidFill>
              </a:rPr>
              <a:t>CURRENT LIMITATION</a:t>
            </a:r>
            <a:endParaRPr sz="750" b="1">
              <a:solidFill>
                <a:srgbClr val="B5473C"/>
              </a:solidFill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419100" y="181927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F4D"/>
                </a:solidFill>
              </a:defRPr>
            </a:pPr>
            <a:r>
              <a:rPr sz="1350" b="1">
                <a:solidFill>
                  <a:srgbClr val="102F4D"/>
                </a:solidFill>
              </a:rPr>
              <a:t>Static campus place catalogue</a:t>
            </a:r>
            <a:endParaRPr sz="1350" b="1">
              <a:solidFill>
                <a:srgbClr val="102F4D"/>
              </a:solidFill>
            </a:endParaRPr>
          </a:p>
        </p:txBody>
      </p:sp>
      <p:sp>
        <p:nvSpPr>
          <p:cNvPr id="9" name="box"/>
          <p:cNvSpPr>
            <a:spLocks noGrp="1"/>
          </p:cNvSpPr>
          <p:nvPr/>
        </p:nvSpPr>
        <p:spPr>
          <a:xfrm>
            <a:off x="4933950" y="1657350"/>
            <a:ext cx="685800" cy="28575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5924550" y="15811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003B73"/>
                </a:solidFill>
              </a:defRPr>
            </a:pPr>
            <a:r>
              <a:rPr sz="750" b="1">
                <a:solidFill>
                  <a:srgbClr val="003B73"/>
                </a:solidFill>
              </a:rPr>
              <a:t>FUTURE WORK</a:t>
            </a:r>
            <a:endParaRPr sz="750" b="1">
              <a:solidFill>
                <a:srgbClr val="003B73"/>
              </a:solidFill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5924550" y="1819275"/>
            <a:ext cx="527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F4D"/>
                </a:solidFill>
              </a:defRPr>
            </a:pPr>
            <a:r>
              <a:rPr sz="1350" b="1">
                <a:solidFill>
                  <a:srgbClr val="102F4D"/>
                </a:solidFill>
              </a:rPr>
              <a:t>Administrative place and content management</a:t>
            </a:r>
            <a:endParaRPr sz="1350" b="1">
              <a:solidFill>
                <a:srgbClr val="102F4D"/>
              </a:solidFill>
            </a:endParaRPr>
          </a:p>
        </p:txBody>
      </p:sp>
      <p:sp>
        <p:nvSpPr>
          <p:cNvPr id="12" name="box"/>
          <p:cNvSpPr>
            <a:spLocks noGrp="1"/>
          </p:cNvSpPr>
          <p:nvPr/>
        </p:nvSpPr>
        <p:spPr>
          <a:xfrm>
            <a:off x="419100" y="2457450"/>
            <a:ext cx="1078230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419100" y="271462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B5473C"/>
                </a:solidFill>
              </a:defRPr>
            </a:pPr>
            <a:r>
              <a:rPr sz="750" b="1">
                <a:solidFill>
                  <a:srgbClr val="B5473C"/>
                </a:solidFill>
              </a:rPr>
              <a:t>CURRENT LIMITATION</a:t>
            </a:r>
            <a:endParaRPr sz="750" b="1">
              <a:solidFill>
                <a:srgbClr val="B5473C"/>
              </a:solidFill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19100" y="2952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F4D"/>
                </a:solidFill>
              </a:defRPr>
            </a:pPr>
            <a:r>
              <a:rPr sz="1350" b="1">
                <a:solidFill>
                  <a:srgbClr val="102F4D"/>
                </a:solidFill>
              </a:rPr>
              <a:t>External routing and weather availability</a:t>
            </a:r>
            <a:endParaRPr sz="1350" b="1">
              <a:solidFill>
                <a:srgbClr val="102F4D"/>
              </a:solidFill>
            </a:endParaRPr>
          </a:p>
        </p:txBody>
      </p:sp>
      <p:sp>
        <p:nvSpPr>
          <p:cNvPr id="15" name="box"/>
          <p:cNvSpPr>
            <a:spLocks noGrp="1"/>
          </p:cNvSpPr>
          <p:nvPr/>
        </p:nvSpPr>
        <p:spPr>
          <a:xfrm>
            <a:off x="4933950" y="2790825"/>
            <a:ext cx="685800" cy="28575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5924550" y="271462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003B73"/>
                </a:solidFill>
              </a:defRPr>
            </a:pPr>
            <a:r>
              <a:rPr sz="750" b="1">
                <a:solidFill>
                  <a:srgbClr val="003B73"/>
                </a:solidFill>
              </a:rPr>
              <a:t>FUTURE WORK</a:t>
            </a:r>
            <a:endParaRPr sz="750" b="1">
              <a:solidFill>
                <a:srgbClr val="003B73"/>
              </a:solidFill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5924550" y="2952750"/>
            <a:ext cx="527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F4D"/>
                </a:solidFill>
              </a:defRPr>
            </a:pPr>
            <a:r>
              <a:rPr sz="1350" b="1">
                <a:solidFill>
                  <a:srgbClr val="102F4D"/>
                </a:solidFill>
              </a:rPr>
              <a:t>Caching, monitoring and graceful offline behaviour</a:t>
            </a:r>
            <a:endParaRPr sz="1350" b="1">
              <a:solidFill>
                <a:srgbClr val="102F4D"/>
              </a:solidFill>
            </a:endParaRPr>
          </a:p>
        </p:txBody>
      </p:sp>
      <p:sp>
        <p:nvSpPr>
          <p:cNvPr id="18" name="box"/>
          <p:cNvSpPr>
            <a:spLocks noGrp="1"/>
          </p:cNvSpPr>
          <p:nvPr/>
        </p:nvSpPr>
        <p:spPr>
          <a:xfrm>
            <a:off x="419100" y="3590925"/>
            <a:ext cx="1078230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419100" y="38481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B5473C"/>
                </a:solidFill>
              </a:defRPr>
            </a:pPr>
            <a:r>
              <a:rPr sz="750" b="1">
                <a:solidFill>
                  <a:srgbClr val="B5473C"/>
                </a:solidFill>
              </a:rPr>
              <a:t>CURRENT LIMITATION</a:t>
            </a:r>
            <a:endParaRPr sz="750" b="1">
              <a:solidFill>
                <a:srgbClr val="B5473C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419100" y="408622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F4D"/>
                </a:solidFill>
              </a:defRPr>
            </a:pPr>
            <a:r>
              <a:rPr sz="1350" b="1">
                <a:solidFill>
                  <a:srgbClr val="102F4D"/>
                </a:solidFill>
              </a:rPr>
              <a:t>No completed user study yet</a:t>
            </a:r>
            <a:endParaRPr sz="1350" b="1">
              <a:solidFill>
                <a:srgbClr val="102F4D"/>
              </a:solidFill>
            </a:endParaRPr>
          </a:p>
        </p:txBody>
      </p:sp>
      <p:sp>
        <p:nvSpPr>
          <p:cNvPr id="21" name="box"/>
          <p:cNvSpPr>
            <a:spLocks noGrp="1"/>
          </p:cNvSpPr>
          <p:nvPr/>
        </p:nvSpPr>
        <p:spPr>
          <a:xfrm>
            <a:off x="4933950" y="3924300"/>
            <a:ext cx="685800" cy="28575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5924550" y="38481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003B73"/>
                </a:solidFill>
              </a:defRPr>
            </a:pPr>
            <a:r>
              <a:rPr sz="750" b="1">
                <a:solidFill>
                  <a:srgbClr val="003B73"/>
                </a:solidFill>
              </a:rPr>
              <a:t>FUTURE WORK</a:t>
            </a:r>
            <a:endParaRPr sz="750" b="1">
              <a:solidFill>
                <a:srgbClr val="003B73"/>
              </a:solidFill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5924550" y="4086225"/>
            <a:ext cx="527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F4D"/>
                </a:solidFill>
              </a:defRPr>
            </a:pPr>
            <a:r>
              <a:rPr sz="1350" b="1">
                <a:solidFill>
                  <a:srgbClr val="102F4D"/>
                </a:solidFill>
              </a:rPr>
              <a:t>Measure task success, time, satisfaction and accessibility</a:t>
            </a:r>
            <a:endParaRPr sz="1350" b="1">
              <a:solidFill>
                <a:srgbClr val="102F4D"/>
              </a:solidFill>
            </a:endParaRPr>
          </a:p>
        </p:txBody>
      </p:sp>
      <p:sp>
        <p:nvSpPr>
          <p:cNvPr id="24" name="box"/>
          <p:cNvSpPr>
            <a:spLocks noGrp="1"/>
          </p:cNvSpPr>
          <p:nvPr/>
        </p:nvSpPr>
        <p:spPr>
          <a:xfrm>
            <a:off x="419100" y="4724400"/>
            <a:ext cx="10782300" cy="9525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25" name="text"/>
          <p:cNvSpPr>
            <a:spLocks noGrp="1"/>
          </p:cNvSpPr>
          <p:nvPr/>
        </p:nvSpPr>
        <p:spPr>
          <a:xfrm>
            <a:off x="419100" y="49815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B5473C"/>
                </a:solidFill>
              </a:defRPr>
            </a:pPr>
            <a:r>
              <a:rPr sz="750" b="1">
                <a:solidFill>
                  <a:srgbClr val="B5473C"/>
                </a:solidFill>
              </a:rPr>
              <a:t>CURRENT LIMITATION</a:t>
            </a:r>
            <a:endParaRPr sz="750" b="1">
              <a:solidFill>
                <a:srgbClr val="B5473C"/>
              </a:solidFill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419100" y="521970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F4D"/>
                </a:solidFill>
              </a:defRPr>
            </a:pPr>
            <a:r>
              <a:rPr sz="1350" b="1">
                <a:solidFill>
                  <a:srgbClr val="102F4D"/>
                </a:solidFill>
              </a:rPr>
              <a:t>Single-institution deployment model</a:t>
            </a:r>
            <a:endParaRPr sz="1350" b="1">
              <a:solidFill>
                <a:srgbClr val="102F4D"/>
              </a:solidFill>
            </a:endParaRPr>
          </a:p>
        </p:txBody>
      </p:sp>
      <p:sp>
        <p:nvSpPr>
          <p:cNvPr id="27" name="box"/>
          <p:cNvSpPr>
            <a:spLocks noGrp="1"/>
          </p:cNvSpPr>
          <p:nvPr/>
        </p:nvSpPr>
        <p:spPr>
          <a:xfrm>
            <a:off x="4933950" y="5057775"/>
            <a:ext cx="685800" cy="28575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5924550" y="49815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003B73"/>
                </a:solidFill>
              </a:defRPr>
            </a:pPr>
            <a:r>
              <a:rPr sz="750" b="1">
                <a:solidFill>
                  <a:srgbClr val="003B73"/>
                </a:solidFill>
              </a:rPr>
              <a:t>FUTURE WORK</a:t>
            </a:r>
            <a:endParaRPr sz="750" b="1">
              <a:solidFill>
                <a:srgbClr val="003B73"/>
              </a:solidFill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5924550" y="5219700"/>
            <a:ext cx="527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F4D"/>
                </a:solidFill>
              </a:defRPr>
            </a:pPr>
            <a:r>
              <a:rPr sz="1350" b="1">
                <a:solidFill>
                  <a:srgbClr val="102F4D"/>
                </a:solidFill>
              </a:rPr>
              <a:t>Role-based administration and institutional integrations</a:t>
            </a:r>
            <a:endParaRPr sz="1350" b="1">
              <a:solidFill>
                <a:srgbClr val="102F4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bar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419100" y="266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CONCLUSION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419100" y="5715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F4D"/>
                </a:solidFill>
              </a:defRPr>
            </a:pPr>
            <a:r>
              <a:rPr sz="2700" b="1">
                <a:solidFill>
                  <a:srgbClr val="102F4D"/>
                </a:solidFill>
              </a:rPr>
              <a:t>UCC Campus Connect demonstrates an integrated smart-campus model</a:t>
            </a:r>
            <a:endParaRPr sz="2700" b="1">
              <a:solidFill>
                <a:srgbClr val="102F4D"/>
              </a:solidFill>
            </a:endParaRPr>
          </a:p>
        </p:txBody>
      </p:sp>
      <p:sp>
        <p:nvSpPr>
          <p:cNvPr id="5" name="rule"/>
          <p:cNvSpPr>
            <a:spLocks noGrp="1"/>
          </p:cNvSpPr>
          <p:nvPr/>
        </p:nvSpPr>
        <p:spPr>
          <a:xfrm>
            <a:off x="419100" y="1257300"/>
            <a:ext cx="11353800" cy="19050"/>
          </a:xfrm>
          <a:prstGeom prst="rect">
            <a:avLst/>
          </a:prstGeom>
          <a:solidFill>
            <a:srgbClr val="DCE5EC"/>
          </a:solidFill>
          <a:ln w="0">
            <a:noFill/>
            <a:prstDash val="solid"/>
          </a:ln>
        </p:spPr>
      </p:sp>
      <p:sp>
        <p:nvSpPr>
          <p:cNvPr id="6" name="slide-number"/>
          <p:cNvSpPr>
            <a:spLocks noGrp="1"/>
          </p:cNvSpPr>
          <p:nvPr/>
        </p:nvSpPr>
        <p:spPr>
          <a:xfrm>
            <a:off x="112204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647B8D"/>
                </a:solidFill>
              </a:defRPr>
            </a:pPr>
            <a:r>
              <a:rPr sz="900" b="0">
                <a:solidFill>
                  <a:srgbClr val="647B8D"/>
                </a:solidFill>
              </a:rPr>
              <a:t>19</a:t>
            </a:r>
            <a:endParaRPr sz="900" b="0">
              <a:solidFill>
                <a:srgbClr val="647B8D"/>
              </a:solidFill>
            </a:endParaRPr>
          </a:p>
        </p:txBody>
      </p:sp>
      <p:sp>
        <p:nvSpPr>
          <p:cNvPr id="7" name="box"/>
          <p:cNvSpPr>
            <a:spLocks noGrp="1"/>
          </p:cNvSpPr>
          <p:nvPr/>
        </p:nvSpPr>
        <p:spPr>
          <a:xfrm>
            <a:off x="419100" y="1619250"/>
            <a:ext cx="7239000" cy="3333750"/>
          </a:xfrm>
          <a:prstGeom prst="roundRect">
            <a:avLst>
              <a:gd name="adj" fmla="val 2286"/>
            </a:avLst>
          </a:prstGeom>
          <a:solidFill>
            <a:srgbClr val="003B73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85800" y="186690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2C84B"/>
                </a:solidFill>
              </a:defRPr>
            </a:pPr>
            <a:r>
              <a:rPr sz="1050" b="1">
                <a:solidFill>
                  <a:srgbClr val="F2C84B"/>
                </a:solidFill>
              </a:rPr>
              <a:t>The project delivers</a:t>
            </a:r>
            <a:endParaRPr sz="1050" b="1">
              <a:solidFill>
                <a:srgbClr val="F2C84B"/>
              </a:solidFill>
            </a:endParaRPr>
          </a:p>
        </p:txBody>
      </p:sp>
      <p:sp>
        <p:nvSpPr>
          <p:cNvPr id="9" name="box"/>
          <p:cNvSpPr>
            <a:spLocks noGrp="1"/>
          </p:cNvSpPr>
          <p:nvPr/>
        </p:nvSpPr>
        <p:spPr>
          <a:xfrm>
            <a:off x="685800" y="24193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914400" y="2343150"/>
            <a:ext cx="5962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One interface for discovery, planning and response</a:t>
            </a:r>
            <a:endParaRPr sz="1650" b="0">
              <a:solidFill>
                <a:srgbClr val="FFFFFF"/>
              </a:solidFill>
            </a:endParaRPr>
          </a:p>
        </p:txBody>
      </p:sp>
      <p:sp>
        <p:nvSpPr>
          <p:cNvPr id="11" name="box"/>
          <p:cNvSpPr>
            <a:spLocks noGrp="1"/>
          </p:cNvSpPr>
          <p:nvPr/>
        </p:nvSpPr>
        <p:spPr>
          <a:xfrm>
            <a:off x="685800" y="30194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914400" y="2943225"/>
            <a:ext cx="5962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 maintainable Laravel application architecture</a:t>
            </a:r>
            <a:endParaRPr sz="1650" b="0">
              <a:solidFill>
                <a:srgbClr val="FFFFFF"/>
              </a:solidFill>
            </a:endParaRPr>
          </a:p>
        </p:txBody>
      </p:sp>
      <p:sp>
        <p:nvSpPr>
          <p:cNvPr id="13" name="box"/>
          <p:cNvSpPr>
            <a:spLocks noGrp="1"/>
          </p:cNvSpPr>
          <p:nvPr/>
        </p:nvSpPr>
        <p:spPr>
          <a:xfrm>
            <a:off x="685800" y="36195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914400" y="3543300"/>
            <a:ext cx="5962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 MariaDB model for personal and operational data</a:t>
            </a:r>
            <a:endParaRPr sz="1650" b="0">
              <a:solidFill>
                <a:srgbClr val="FFFFFF"/>
              </a:solidFill>
            </a:endParaRPr>
          </a:p>
        </p:txBody>
      </p:sp>
      <p:sp>
        <p:nvSpPr>
          <p:cNvPr id="15" name="box"/>
          <p:cNvSpPr>
            <a:spLocks noGrp="1"/>
          </p:cNvSpPr>
          <p:nvPr/>
        </p:nvSpPr>
        <p:spPr>
          <a:xfrm>
            <a:off x="685800" y="42195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2C84B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914400" y="4143375"/>
            <a:ext cx="5962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 practical foundation for measured campus-service improvement</a:t>
            </a:r>
            <a:endParaRPr sz="1650" b="0">
              <a:solidFill>
                <a:srgbClr val="FFFFFF"/>
              </a:solidFill>
            </a:endParaRPr>
          </a:p>
        </p:txBody>
      </p:sp>
      <p:sp>
        <p:nvSpPr>
          <p:cNvPr id="17" name="box"/>
          <p:cNvSpPr>
            <a:spLocks noGrp="1"/>
          </p:cNvSpPr>
          <p:nvPr/>
        </p:nvSpPr>
        <p:spPr>
          <a:xfrm>
            <a:off x="8058150" y="1619250"/>
            <a:ext cx="3143250" cy="3333750"/>
          </a:xfrm>
          <a:prstGeom prst="roundRect">
            <a:avLst>
              <a:gd name="adj" fmla="val 2424"/>
            </a:avLst>
          </a:prstGeom>
          <a:solidFill>
            <a:srgbClr val="F6F8FB"/>
          </a:solidFill>
          <a:ln w="0">
            <a:noFill/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8324850" y="1885950"/>
            <a:ext cx="261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3B73"/>
                </a:solidFill>
              </a:defRPr>
            </a:pPr>
            <a:r>
              <a:rPr sz="900" b="1">
                <a:solidFill>
                  <a:srgbClr val="003B73"/>
                </a:solidFill>
              </a:rPr>
              <a:t>CORE CONTRIBUTION</a:t>
            </a:r>
            <a:endParaRPr sz="900" b="1">
              <a:solidFill>
                <a:srgbClr val="003B73"/>
              </a:solidFill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8324850" y="2343150"/>
            <a:ext cx="2476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02F4D"/>
                </a:solidFill>
              </a:defRPr>
            </a:pPr>
            <a:r>
              <a:rPr sz="2025" b="1">
                <a:solidFill>
                  <a:srgbClr val="102F4D"/>
                </a:solidFill>
              </a:rPr>
              <a:t>Campus information becomes more useful when it is connected to the user’s immediate task and context.</a:t>
            </a:r>
            <a:endParaRPr sz="2025" b="1">
              <a:solidFill>
                <a:srgbClr val="102F4D"/>
              </a:solidFill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419100" y="5505450"/>
            <a:ext cx="10782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3B73"/>
                </a:solidFill>
              </a:defRPr>
            </a:pPr>
            <a:r>
              <a:rPr sz="2550" b="1">
                <a:solidFill>
                  <a:srgbClr val="003B73"/>
                </a:solidFill>
              </a:rPr>
              <a:t>Questions &amp; Discussion</a:t>
            </a:r>
            <a:endParaRPr sz="2550" b="1">
              <a:solidFill>
                <a:srgbClr val="003B7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9644</Words>
  <Application>WPS Presentation</Application>
  <PresentationFormat>Converted Presentation</PresentationFormat>
  <Paragraphs>655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Microsoft YaHei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Frank Akrasi</cp:lastModifiedBy>
  <cp:revision>3</cp:revision>
  <dcterms:created xsi:type="dcterms:W3CDTF">2026-07-31T11:12:01Z</dcterms:created>
  <dcterms:modified xsi:type="dcterms:W3CDTF">2026-07-31T11:16:31Z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BAC018CDC1694D7AA9CE1F1BDB2B68D0_12</vt:lpwstr>
  </property>
  <property fmtid="{D5CDD505-2E9C-101B-9397-08002B2CF9AE}" pid="3" name="KSOProductBuildVer">
    <vt:lpwstr>1033-12.1.0.26880</vt:lpwstr>
  </property>
</Properties>
</file>